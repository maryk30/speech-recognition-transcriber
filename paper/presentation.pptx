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A6272"/>
                </a:solidFill>
                <a:latin typeface="Calibri"/>
              </a:defRPr>
            </a:pPr>
            <a:r>
              <a:rPr sz="1100" b="0" i="0" u="none" strike="noStrike">
                <a:solidFill>
                  <a:srgbClr val="5A6272"/>
                </a:solidFill>
                <a:latin typeface="Calibri"/>
              </a:rPr>
              <a:t>Percent (lower is better for WER, higher for filler recall)</a:t>
            </a:r>
          </a:p>
        </c:rich>
      </c:tx>
      <c:layout/>
      <c:overlay val="0"/>
    </c:title>
    <c:autoTitleDeleted val="0"/>
    <c:plotArea>
      <c:layout/>
      <c:barChart>
        <c:barDir val="col"/>
        <c:grouping val="clustered"/>
        <c:varyColors val="0"/>
        <c:ser>
          <c:idx val="0"/>
          <c:order val="0"/>
          <c:tx>
            <c:strRef>
              <c:f>Sheet1!$B$1</c:f>
              <c:strCache>
                <c:ptCount val="1"/>
                <c:pt idx="0">
                  <c:v>Stock Whisper-small</c:v>
                </c:pt>
              </c:strCache>
            </c:strRef>
          </c:tx>
          <c:spPr>
            <a:solidFill>
              <a:srgbClr val="9AA5B8"/>
            </a:solidFill>
            <a:effectLst/>
          </c:spPr>
          <c:invertIfNegative val="0"/>
          <c:dLbls>
            <c:numFmt formatCode="0.0" sourceLinked="0"/>
            <c:txPr>
              <a:bodyPr/>
              <a:lstStyle/>
              <a:p>
                <a:pPr>
                  <a:defRPr b="0" i="0" strike="noStrike" sz="1100" u="none">
                    <a:solidFill>
                      <a:srgbClr val="14213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WER</c:v>
                  </c:pt>
                  <c:pt idx="1">
                    <c:v>Verbatim WER</c:v>
                  </c:pt>
                  <c:pt idx="2">
                    <c:v>Filler recall</c:v>
                  </c:pt>
                </c:lvl>
              </c:multiLvlStrCache>
            </c:multiLvlStrRef>
          </c:cat>
          <c:val>
            <c:numRef>
              <c:f>Sheet1!$B$2:$B$4</c:f>
              <c:numCache>
                <c:formatCode>General</c:formatCode>
                <c:ptCount val="3"/>
                <c:pt idx="0">
                  <c:v>33.9</c:v>
                </c:pt>
                <c:pt idx="1">
                  <c:v>37.7</c:v>
                </c:pt>
                <c:pt idx="2">
                  <c:v>2.3</c:v>
                </c:pt>
              </c:numCache>
            </c:numRef>
          </c:val>
        </c:ser>
        <c:ser>
          <c:idx val="1"/>
          <c:order val="1"/>
          <c:tx>
            <c:strRef>
              <c:f>Sheet1!$C$1</c:f>
              <c:strCache>
                <c:ptCount val="1"/>
                <c:pt idx="0">
                  <c:v>Adapted</c:v>
                </c:pt>
              </c:strCache>
            </c:strRef>
          </c:tx>
          <c:spPr>
            <a:solidFill>
              <a:srgbClr val="C46A1C"/>
            </a:solidFill>
            <a:effectLst/>
          </c:spPr>
          <c:invertIfNegative val="0"/>
          <c:dLbls>
            <c:numFmt formatCode="0.0" sourceLinked="0"/>
            <c:txPr>
              <a:bodyPr/>
              <a:lstStyle/>
              <a:p>
                <a:pPr>
                  <a:defRPr b="0" i="0" strike="noStrike" sz="1100" u="none">
                    <a:solidFill>
                      <a:srgbClr val="14213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WER</c:v>
                  </c:pt>
                  <c:pt idx="1">
                    <c:v>Verbatim WER</c:v>
                  </c:pt>
                  <c:pt idx="2">
                    <c:v>Filler recall</c:v>
                  </c:pt>
                </c:lvl>
              </c:multiLvlStrCache>
            </c:multiLvlStrRef>
          </c:cat>
          <c:val>
            <c:numRef>
              <c:f>Sheet1!$C$2:$C$4</c:f>
              <c:numCache>
                <c:formatCode>General</c:formatCode>
                <c:ptCount val="3"/>
                <c:pt idx="0">
                  <c:v>31.5</c:v>
                </c:pt>
                <c:pt idx="1">
                  <c:v>32.2</c:v>
                </c:pt>
                <c:pt idx="2">
                  <c:v>64.8</c:v>
                </c:pt>
              </c:numCache>
            </c:numRef>
          </c:val>
        </c:ser>
        <c:dLbls>
          <c:numFmt formatCode="0.0" sourceLinked="0"/>
          <c:txPr>
            <a:bodyPr/>
            <a:lstStyle/>
            <a:p>
              <a:pPr>
                <a:defRPr b="0" i="0" strike="noStrike" sz="11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4555"/>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E3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2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5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goal: a transcript of a real room recording that says who spoke, keeps exactly what was said including fillers, and handles people talking over each other — all with open models on a MacBook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transcripts from a single shared microphone need all four at once. Off-the-shelf ASR is strong on clean single-speaker audio but deletes disfluencies and has no notion of speakers. Target users: minute takers, conversation researchers, accessibility.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chain. One diarisation pass gives both speech boundaries and overlap flags, so no separate VAD. Only overlapped segments pay for separation. The Hungarian assignment of streams to speakers uses ECAPA voice prints from each speaker's clean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public SepFormer checkpoints compared. The clean-trained Libri2Mix model won clearly, but the test mixtures are clean digital sums, which favours it. Without separation the overlapped stretch collapsed into one mixed line (45% cpWER); with it both speakers came out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 16 s window re-diarised every 4 s, 3 s guard so lines are never retracted. The gains came from measuring where time goes: GPU Whisper, GPU diarisation, packing clean clips. Packing everything was faster but lost words in overlaps, so accuracy won. Latency is roughly 7-8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fine-tuning on the M3 would take hours per thousand steps. Caching the frozen lower layers makes it feasible. Micro-batch 4 swapped the 16 GB machine, so 2 with accumulation 4. Validation WER peaked at the first check (step 200) and never improved, so the short adaptation does the work; a lower learning rate or shorter schedule is the next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lesson of the project. The first adaptation fixed fillers but made WER worse. The error breakdown pointed at insertions; inspection showed the cause: a training target that does not match what the model sees at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size, layers, data source and budget. The change is the training data specification, made exact by reusing the inference routing code to build it, plus standard regularisation and checkpoint selection on validation 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300 utterances from 16 held-out meetings for both models. Filler recall and verbatim WER improve by margins far larger than their intervals. Plain WER is lower too, but the two intervals overlap, so we only claim it is no worse; a paired test on the same utterances is the right check and our scripts provide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cpWER penalises wrong words and words credited to the wrong person. DER is the same for both rows because the diariser is the same. The clear meeting-level effect is filler retention. Three excerpts are too few for a word-accuracy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meeting cpWER (~57%) is much higher than utterance WER (~32%): diarisation errors and reference gaps, not the recogniser. An earlier evaluation built the DER reference from text turns and reported a spurious 57% DER; with complete annotation it is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intervals and limits explicitly. This is a systems study with indicative measurements, not a benchmark. One training configuration, no learning-rate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lesson: the decisive change was not a bigger model but a training set that matches what the model hears inside the pipeline. Then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demo. Good examples: the synthetic tts_demo with the adapted model (um kept, interruption separated), then an AMI excerpt as the honest hard case. Caveats: lower-case unpunctuated output, 6-10 s lag, two simultaneous speakers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548640"/>
            <a:ext cx="8229600" cy="274320"/>
          </a:xfrm>
          <a:prstGeom prst="rect">
            <a:avLst/>
          </a:prstGeom>
          <a:noFill/>
          <a:ln/>
        </p:spPr>
        <p:txBody>
          <a:bodyPr wrap="square" lIns="0" tIns="0" rIns="0" bIns="0" rtlCol="0" anchor="ctr"/>
          <a:lstStyle/>
          <a:p>
            <a:pPr indent="0" marL="0">
              <a:buNone/>
            </a:pPr>
            <a:r>
              <a:rPr lang="en-US" sz="1100" b="1" spc="200" kern="0" dirty="0">
                <a:solidFill>
                  <a:srgbClr val="F2B27A"/>
                </a:solidFill>
                <a:latin typeface="Calibri" pitchFamily="34" charset="0"/>
                <a:ea typeface="Calibri" pitchFamily="34" charset="-122"/>
                <a:cs typeface="Calibri" pitchFamily="34" charset="-120"/>
              </a:rPr>
              <a:t>DEEP LEARNING PROJECT-BASED LEARNING · WOXSEN UNIVERSITY</a:t>
            </a:r>
            <a:endParaRPr lang="en-US" sz="1100" dirty="0"/>
          </a:p>
        </p:txBody>
      </p:sp>
      <p:sp>
        <p:nvSpPr>
          <p:cNvPr id="3" name="Text 1"/>
          <p:cNvSpPr txBox="1"/>
          <p:nvPr/>
        </p:nvSpPr>
        <p:spPr>
          <a:xfrm>
            <a:off x="457200" y="914400"/>
            <a:ext cx="7498080" cy="155448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Verbatim transcription of overlapping meeting speech, on a laptop</a:t>
            </a:r>
            <a:endParaRPr lang="en-US" sz="3600" dirty="0"/>
          </a:p>
        </p:txBody>
      </p:sp>
      <p:sp>
        <p:nvSpPr>
          <p:cNvPr id="4" name="Text 2"/>
          <p:cNvSpPr txBox="1"/>
          <p:nvPr/>
        </p:nvSpPr>
        <p:spPr>
          <a:xfrm>
            <a:off x="457200" y="2560320"/>
            <a:ext cx="7315200" cy="548640"/>
          </a:xfrm>
          <a:prstGeom prst="rect">
            <a:avLst/>
          </a:prstGeom>
          <a:noFill/>
          <a:ln/>
        </p:spPr>
        <p:txBody>
          <a:bodyPr wrap="square" lIns="0" tIns="0" rIns="0" bIns="0" rtlCol="0" anchor="ctr"/>
          <a:lstStyle/>
          <a:p>
            <a:pPr indent="0" marL="0">
              <a:buNone/>
            </a:pPr>
            <a:r>
              <a:rPr lang="en-US" sz="1600" dirty="0">
                <a:solidFill>
                  <a:srgbClr val="C9D3E6"/>
                </a:solidFill>
                <a:latin typeface="Calibri" pitchFamily="34" charset="0"/>
                <a:ea typeface="Calibri" pitchFamily="34" charset="-122"/>
                <a:cs typeface="Calibri" pitchFamily="34" charset="-120"/>
              </a:rPr>
              <a:t>Who spoke, what they said — including every “um” — when two people talk at once</a:t>
            </a:r>
            <a:endParaRPr lang="en-US" sz="1600" dirty="0"/>
          </a:p>
        </p:txBody>
      </p:sp>
      <p:sp>
        <p:nvSpPr>
          <p:cNvPr id="5" name="Text 3"/>
          <p:cNvSpPr txBox="1"/>
          <p:nvPr/>
        </p:nvSpPr>
        <p:spPr>
          <a:xfrm>
            <a:off x="457200" y="4069080"/>
            <a:ext cx="8229600" cy="594360"/>
          </a:xfrm>
          <a:prstGeom prst="rect">
            <a:avLst/>
          </a:prstGeom>
          <a:noFill/>
          <a:ln/>
        </p:spPr>
        <p:txBody>
          <a:bodyPr wrap="square" lIns="0" tIns="0" rIns="0" bIns="0" rtlCol="0" anchor="b"/>
          <a:lstStyle/>
          <a:p>
            <a:pPr indent="0" marL="0">
              <a:buNone/>
            </a:pPr>
            <a:r>
              <a:rPr lang="en-US" sz="1200" dirty="0">
                <a:solidFill>
                  <a:srgbClr val="C9D3E6"/>
                </a:solidFill>
                <a:latin typeface="Calibri" pitchFamily="34" charset="0"/>
                <a:ea typeface="Calibri" pitchFamily="34" charset="-122"/>
                <a:cs typeface="Calibri" pitchFamily="34" charset="-120"/>
              </a:rPr>
              <a:t>Shreya Mary Kurien · Krishiv Saluja · Sampath Bageyawadi · Thummala Koushik · M Sanjay</a:t>
            </a:r>
            <a:endParaRPr lang="en-US" sz="1200" dirty="0"/>
          </a:p>
          <a:p>
            <a:pPr indent="0" marL="0">
              <a:buNone/>
            </a:pPr>
            <a:r>
              <a:rPr lang="en-US" sz="1200" dirty="0">
                <a:solidFill>
                  <a:srgbClr val="C9D3E6"/>
                </a:solidFill>
                <a:latin typeface="Calibri" pitchFamily="34" charset="0"/>
                <a:ea typeface="Calibri" pitchFamily="34" charset="-122"/>
                <a:cs typeface="Calibri" pitchFamily="34" charset="-120"/>
              </a:rPr>
              <a:t>Department of Computer Science and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One microphone, four problems at once</a:t>
            </a:r>
            <a:endParaRPr lang="en-US" sz="2400" dirty="0"/>
          </a:p>
        </p:txBody>
      </p:sp>
      <p:sp>
        <p:nvSpPr>
          <p:cNvPr id="4" name="Shape 2"/>
          <p:cNvSpPr/>
          <p:nvPr/>
        </p:nvSpPr>
        <p:spPr>
          <a:xfrm>
            <a:off x="457200" y="1600200"/>
            <a:ext cx="1885950" cy="2651760"/>
          </a:xfrm>
          <a:prstGeom prst="roundRect">
            <a:avLst>
              <a:gd name="adj" fmla="val 3879"/>
            </a:avLst>
          </a:prstGeom>
          <a:solidFill>
            <a:srgbClr val="EEF2F8"/>
          </a:solidFill>
          <a:ln w="12700">
            <a:solidFill>
              <a:srgbClr val="EEF2F8"/>
            </a:solidFill>
            <a:prstDash val="solid"/>
          </a:ln>
        </p:spPr>
      </p:sp>
      <p:sp>
        <p:nvSpPr>
          <p:cNvPr id="5" name="Shape 3"/>
          <p:cNvSpPr/>
          <p:nvPr/>
        </p:nvSpPr>
        <p:spPr>
          <a:xfrm>
            <a:off x="640080" y="1783080"/>
            <a:ext cx="384048" cy="384048"/>
          </a:xfrm>
          <a:prstGeom prst="ellipse">
            <a:avLst/>
          </a:prstGeom>
          <a:solidFill>
            <a:srgbClr val="2F6DB5"/>
          </a:solidFill>
          <a:ln w="12700">
            <a:solidFill>
              <a:srgbClr val="2F6DB5"/>
            </a:solidFill>
            <a:prstDash val="solid"/>
          </a:ln>
        </p:spPr>
      </p:sp>
      <p:sp>
        <p:nvSpPr>
          <p:cNvPr id="6" name="Text 4"/>
          <p:cNvSpPr txBox="1"/>
          <p:nvPr/>
        </p:nvSpPr>
        <p:spPr>
          <a:xfrm>
            <a:off x="64008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40080" y="2286000"/>
            <a:ext cx="152019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Who speaks?</a:t>
            </a:r>
            <a:endParaRPr lang="en-US" sz="1500" dirty="0"/>
          </a:p>
        </p:txBody>
      </p:sp>
      <p:sp>
        <p:nvSpPr>
          <p:cNvPr id="8" name="Text 6"/>
          <p:cNvSpPr txBox="1"/>
          <p:nvPr/>
        </p:nvSpPr>
        <p:spPr>
          <a:xfrm>
            <a:off x="640080" y="2743200"/>
            <a:ext cx="1520190" cy="137160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Consistent Speaker_N labels for any set of people, with no per-speaker training.</a:t>
            </a:r>
            <a:endParaRPr lang="en-US" sz="1250" dirty="0"/>
          </a:p>
        </p:txBody>
      </p:sp>
      <p:sp>
        <p:nvSpPr>
          <p:cNvPr id="9" name="Shape 7"/>
          <p:cNvSpPr/>
          <p:nvPr/>
        </p:nvSpPr>
        <p:spPr>
          <a:xfrm>
            <a:off x="2571750" y="1600200"/>
            <a:ext cx="1885950" cy="2651760"/>
          </a:xfrm>
          <a:prstGeom prst="roundRect">
            <a:avLst>
              <a:gd name="adj" fmla="val 3879"/>
            </a:avLst>
          </a:prstGeom>
          <a:solidFill>
            <a:srgbClr val="EEF2F8"/>
          </a:solidFill>
          <a:ln w="12700">
            <a:solidFill>
              <a:srgbClr val="EEF2F8"/>
            </a:solidFill>
            <a:prstDash val="solid"/>
          </a:ln>
        </p:spPr>
      </p:sp>
      <p:sp>
        <p:nvSpPr>
          <p:cNvPr id="10" name="Shape 8"/>
          <p:cNvSpPr/>
          <p:nvPr/>
        </p:nvSpPr>
        <p:spPr>
          <a:xfrm>
            <a:off x="2754630" y="1783080"/>
            <a:ext cx="384048" cy="384048"/>
          </a:xfrm>
          <a:prstGeom prst="ellipse">
            <a:avLst/>
          </a:prstGeom>
          <a:solidFill>
            <a:srgbClr val="C46A1C"/>
          </a:solidFill>
          <a:ln w="12700">
            <a:solidFill>
              <a:srgbClr val="C46A1C"/>
            </a:solidFill>
            <a:prstDash val="solid"/>
          </a:ln>
        </p:spPr>
      </p:sp>
      <p:sp>
        <p:nvSpPr>
          <p:cNvPr id="11" name="Text 9"/>
          <p:cNvSpPr txBox="1"/>
          <p:nvPr/>
        </p:nvSpPr>
        <p:spPr>
          <a:xfrm>
            <a:off x="275463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754630" y="2286000"/>
            <a:ext cx="152019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Overlap</a:t>
            </a:r>
            <a:endParaRPr lang="en-US" sz="1500" dirty="0"/>
          </a:p>
        </p:txBody>
      </p:sp>
      <p:sp>
        <p:nvSpPr>
          <p:cNvPr id="13" name="Text 11"/>
          <p:cNvSpPr txBox="1"/>
          <p:nvPr/>
        </p:nvSpPr>
        <p:spPr>
          <a:xfrm>
            <a:off x="2754630" y="2743200"/>
            <a:ext cx="1520190" cy="137160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Two people talk at once; one mixed waveform holds both voices.</a:t>
            </a:r>
            <a:endParaRPr lang="en-US" sz="1250" dirty="0"/>
          </a:p>
        </p:txBody>
      </p:sp>
      <p:sp>
        <p:nvSpPr>
          <p:cNvPr id="14" name="Shape 12"/>
          <p:cNvSpPr/>
          <p:nvPr/>
        </p:nvSpPr>
        <p:spPr>
          <a:xfrm>
            <a:off x="4686300" y="1600200"/>
            <a:ext cx="1885950" cy="2651760"/>
          </a:xfrm>
          <a:prstGeom prst="roundRect">
            <a:avLst>
              <a:gd name="adj" fmla="val 3879"/>
            </a:avLst>
          </a:prstGeom>
          <a:solidFill>
            <a:srgbClr val="EEF2F8"/>
          </a:solidFill>
          <a:ln w="12700">
            <a:solidFill>
              <a:srgbClr val="EEF2F8"/>
            </a:solidFill>
            <a:prstDash val="solid"/>
          </a:ln>
        </p:spPr>
      </p:sp>
      <p:sp>
        <p:nvSpPr>
          <p:cNvPr id="15" name="Shape 13"/>
          <p:cNvSpPr/>
          <p:nvPr/>
        </p:nvSpPr>
        <p:spPr>
          <a:xfrm>
            <a:off x="4869180" y="1783080"/>
            <a:ext cx="384048" cy="384048"/>
          </a:xfrm>
          <a:prstGeom prst="ellipse">
            <a:avLst/>
          </a:prstGeom>
          <a:solidFill>
            <a:srgbClr val="2F6DB5"/>
          </a:solidFill>
          <a:ln w="12700">
            <a:solidFill>
              <a:srgbClr val="2F6DB5"/>
            </a:solidFill>
            <a:prstDash val="solid"/>
          </a:ln>
        </p:spPr>
      </p:sp>
      <p:sp>
        <p:nvSpPr>
          <p:cNvPr id="16" name="Text 14"/>
          <p:cNvSpPr txBox="1"/>
          <p:nvPr/>
        </p:nvSpPr>
        <p:spPr>
          <a:xfrm>
            <a:off x="486918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4869180" y="2286000"/>
            <a:ext cx="152019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Verbatim</a:t>
            </a:r>
            <a:endParaRPr lang="en-US" sz="1500" dirty="0"/>
          </a:p>
        </p:txBody>
      </p:sp>
      <p:sp>
        <p:nvSpPr>
          <p:cNvPr id="18" name="Text 16"/>
          <p:cNvSpPr txBox="1"/>
          <p:nvPr/>
        </p:nvSpPr>
        <p:spPr>
          <a:xfrm>
            <a:off x="4869180" y="2743200"/>
            <a:ext cx="1520190" cy="137160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Stock Whisper deletes “um”, “uh”, “mm-hmm”: it kept 3 of 128 fillers in our test.</a:t>
            </a:r>
            <a:endParaRPr lang="en-US" sz="1250" dirty="0"/>
          </a:p>
        </p:txBody>
      </p:sp>
      <p:sp>
        <p:nvSpPr>
          <p:cNvPr id="19" name="Shape 17"/>
          <p:cNvSpPr/>
          <p:nvPr/>
        </p:nvSpPr>
        <p:spPr>
          <a:xfrm>
            <a:off x="6800850" y="1600200"/>
            <a:ext cx="1885950" cy="2651760"/>
          </a:xfrm>
          <a:prstGeom prst="roundRect">
            <a:avLst>
              <a:gd name="adj" fmla="val 3879"/>
            </a:avLst>
          </a:prstGeom>
          <a:solidFill>
            <a:srgbClr val="EEF2F8"/>
          </a:solidFill>
          <a:ln w="12700">
            <a:solidFill>
              <a:srgbClr val="EEF2F8"/>
            </a:solidFill>
            <a:prstDash val="solid"/>
          </a:ln>
        </p:spPr>
      </p:sp>
      <p:sp>
        <p:nvSpPr>
          <p:cNvPr id="20" name="Shape 18"/>
          <p:cNvSpPr/>
          <p:nvPr/>
        </p:nvSpPr>
        <p:spPr>
          <a:xfrm>
            <a:off x="6983730" y="1783080"/>
            <a:ext cx="384048" cy="384048"/>
          </a:xfrm>
          <a:prstGeom prst="ellipse">
            <a:avLst/>
          </a:prstGeom>
          <a:solidFill>
            <a:srgbClr val="C46A1C"/>
          </a:solidFill>
          <a:ln w="12700">
            <a:solidFill>
              <a:srgbClr val="C46A1C"/>
            </a:solidFill>
            <a:prstDash val="solid"/>
          </a:ln>
        </p:spPr>
      </p:sp>
      <p:sp>
        <p:nvSpPr>
          <p:cNvPr id="21" name="Text 19"/>
          <p:cNvSpPr txBox="1"/>
          <p:nvPr/>
        </p:nvSpPr>
        <p:spPr>
          <a:xfrm>
            <a:off x="698373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983730" y="2286000"/>
            <a:ext cx="152019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Live</a:t>
            </a:r>
            <a:endParaRPr lang="en-US" sz="1500" dirty="0"/>
          </a:p>
        </p:txBody>
      </p:sp>
      <p:sp>
        <p:nvSpPr>
          <p:cNvPr id="23" name="Text 21"/>
          <p:cNvSpPr txBox="1"/>
          <p:nvPr/>
        </p:nvSpPr>
        <p:spPr>
          <a:xfrm>
            <a:off x="6983730" y="2743200"/>
            <a:ext cx="1520190" cy="137160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Fast enough to follow a conversation on consumer hardware.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SYSTEM</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Four open models, chained</a:t>
            </a:r>
            <a:endParaRPr lang="en-US" sz="2400" dirty="0"/>
          </a:p>
        </p:txBody>
      </p:sp>
      <p:sp>
        <p:nvSpPr>
          <p:cNvPr id="4" name="Shape 2"/>
          <p:cNvSpPr/>
          <p:nvPr/>
        </p:nvSpPr>
        <p:spPr>
          <a:xfrm>
            <a:off x="457200" y="1600200"/>
            <a:ext cx="1783080" cy="1417320"/>
          </a:xfrm>
          <a:prstGeom prst="roundRect">
            <a:avLst>
              <a:gd name="adj" fmla="val 5161"/>
            </a:avLst>
          </a:prstGeom>
          <a:solidFill>
            <a:srgbClr val="FFFFFF"/>
          </a:solidFill>
          <a:ln w="22225">
            <a:solidFill>
              <a:srgbClr val="14213D"/>
            </a:solidFill>
            <a:prstDash val="solid"/>
          </a:ln>
        </p:spPr>
      </p:sp>
      <p:sp>
        <p:nvSpPr>
          <p:cNvPr id="5" name="Text 3"/>
          <p:cNvSpPr txBox="1"/>
          <p:nvPr/>
        </p:nvSpPr>
        <p:spPr>
          <a:xfrm>
            <a:off x="594360" y="1719072"/>
            <a:ext cx="150876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Diarisation</a:t>
            </a:r>
            <a:endParaRPr lang="en-US" sz="1400" dirty="0"/>
          </a:p>
        </p:txBody>
      </p:sp>
      <p:sp>
        <p:nvSpPr>
          <p:cNvPr id="6" name="Text 4"/>
          <p:cNvSpPr txBox="1"/>
          <p:nvPr/>
        </p:nvSpPr>
        <p:spPr>
          <a:xfrm>
            <a:off x="594360" y="2103120"/>
            <a:ext cx="1508760" cy="868680"/>
          </a:xfrm>
          <a:prstGeom prst="rect">
            <a:avLst/>
          </a:prstGeom>
          <a:noFill/>
          <a:ln/>
        </p:spPr>
        <p:txBody>
          <a:bodyPr wrap="square" lIns="0" tIns="0" rIns="0" bIns="0" rtlCol="0" anchor="t"/>
          <a:lstStyle/>
          <a:p>
            <a:pPr indent="0" marL="0">
              <a:buNone/>
            </a:pPr>
            <a:r>
              <a:rPr lang="en-US" sz="1150" dirty="0">
                <a:solidFill>
                  <a:srgbClr val="5A6272"/>
                </a:solidFill>
                <a:latin typeface="Calibri" pitchFamily="34" charset="0"/>
                <a:ea typeface="Calibri" pitchFamily="34" charset="-122"/>
                <a:cs typeface="Calibri" pitchFamily="34" charset="-120"/>
              </a:rPr>
              <a:t>pyannote 3.1 — who speaks when, overlaps kept</a:t>
            </a:r>
            <a:endParaRPr lang="en-US" sz="1150" dirty="0"/>
          </a:p>
        </p:txBody>
      </p:sp>
      <p:sp>
        <p:nvSpPr>
          <p:cNvPr id="7" name="Shape 5"/>
          <p:cNvSpPr/>
          <p:nvPr/>
        </p:nvSpPr>
        <p:spPr>
          <a:xfrm>
            <a:off x="2331720" y="2194560"/>
            <a:ext cx="182880" cy="237744"/>
          </a:xfrm>
          <a:prstGeom prst="rightArrow">
            <a:avLst/>
          </a:prstGeom>
          <a:solidFill>
            <a:srgbClr val="C46A1C"/>
          </a:solidFill>
          <a:ln w="12700">
            <a:solidFill>
              <a:srgbClr val="C46A1C"/>
            </a:solidFill>
            <a:prstDash val="solid"/>
          </a:ln>
        </p:spPr>
      </p:sp>
      <p:sp>
        <p:nvSpPr>
          <p:cNvPr id="8" name="Shape 6"/>
          <p:cNvSpPr/>
          <p:nvPr/>
        </p:nvSpPr>
        <p:spPr>
          <a:xfrm>
            <a:off x="2606040" y="1600200"/>
            <a:ext cx="1783080" cy="1417320"/>
          </a:xfrm>
          <a:prstGeom prst="roundRect">
            <a:avLst>
              <a:gd name="adj" fmla="val 5161"/>
            </a:avLst>
          </a:prstGeom>
          <a:solidFill>
            <a:srgbClr val="FFFFFF"/>
          </a:solidFill>
          <a:ln w="22225">
            <a:solidFill>
              <a:srgbClr val="14213D"/>
            </a:solidFill>
            <a:prstDash val="solid"/>
          </a:ln>
        </p:spPr>
      </p:sp>
      <p:sp>
        <p:nvSpPr>
          <p:cNvPr id="9" name="Text 7"/>
          <p:cNvSpPr txBox="1"/>
          <p:nvPr/>
        </p:nvSpPr>
        <p:spPr>
          <a:xfrm>
            <a:off x="2743200" y="1719072"/>
            <a:ext cx="150876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Routing</a:t>
            </a:r>
            <a:endParaRPr lang="en-US" sz="1400" dirty="0"/>
          </a:p>
        </p:txBody>
      </p:sp>
      <p:sp>
        <p:nvSpPr>
          <p:cNvPr id="10" name="Text 8"/>
          <p:cNvSpPr txBox="1"/>
          <p:nvPr/>
        </p:nvSpPr>
        <p:spPr>
          <a:xfrm>
            <a:off x="2743200" y="2103120"/>
            <a:ext cx="1508760" cy="868680"/>
          </a:xfrm>
          <a:prstGeom prst="rect">
            <a:avLst/>
          </a:prstGeom>
          <a:noFill/>
          <a:ln/>
        </p:spPr>
        <p:txBody>
          <a:bodyPr wrap="square" lIns="0" tIns="0" rIns="0" bIns="0" rtlCol="0" anchor="t"/>
          <a:lstStyle/>
          <a:p>
            <a:pPr indent="0" marL="0">
              <a:buNone/>
            </a:pPr>
            <a:r>
              <a:rPr lang="en-US" sz="1150" dirty="0">
                <a:solidFill>
                  <a:srgbClr val="5A6272"/>
                </a:solidFill>
                <a:latin typeface="Calibri" pitchFamily="34" charset="0"/>
                <a:ea typeface="Calibri" pitchFamily="34" charset="-122"/>
                <a:cs typeface="Calibri" pitchFamily="34" charset="-120"/>
              </a:rPr>
              <a:t>single-speaker vs overlapped segments</a:t>
            </a:r>
            <a:endParaRPr lang="en-US" sz="1150" dirty="0"/>
          </a:p>
        </p:txBody>
      </p:sp>
      <p:sp>
        <p:nvSpPr>
          <p:cNvPr id="11" name="Shape 9"/>
          <p:cNvSpPr/>
          <p:nvPr/>
        </p:nvSpPr>
        <p:spPr>
          <a:xfrm>
            <a:off x="4480560" y="2194560"/>
            <a:ext cx="182880" cy="237744"/>
          </a:xfrm>
          <a:prstGeom prst="rightArrow">
            <a:avLst/>
          </a:prstGeom>
          <a:solidFill>
            <a:srgbClr val="C46A1C"/>
          </a:solidFill>
          <a:ln w="12700">
            <a:solidFill>
              <a:srgbClr val="C46A1C"/>
            </a:solidFill>
            <a:prstDash val="solid"/>
          </a:ln>
        </p:spPr>
      </p:sp>
      <p:sp>
        <p:nvSpPr>
          <p:cNvPr id="12" name="Shape 10"/>
          <p:cNvSpPr/>
          <p:nvPr/>
        </p:nvSpPr>
        <p:spPr>
          <a:xfrm>
            <a:off x="4754880" y="1600200"/>
            <a:ext cx="1783080" cy="1417320"/>
          </a:xfrm>
          <a:prstGeom prst="roundRect">
            <a:avLst>
              <a:gd name="adj" fmla="val 5161"/>
            </a:avLst>
          </a:prstGeom>
          <a:solidFill>
            <a:srgbClr val="FFFFFF"/>
          </a:solidFill>
          <a:ln w="22225">
            <a:solidFill>
              <a:srgbClr val="C46A1C"/>
            </a:solidFill>
            <a:prstDash val="solid"/>
          </a:ln>
        </p:spPr>
      </p:sp>
      <p:sp>
        <p:nvSpPr>
          <p:cNvPr id="13" name="Text 11"/>
          <p:cNvSpPr txBox="1"/>
          <p:nvPr/>
        </p:nvSpPr>
        <p:spPr>
          <a:xfrm>
            <a:off x="4892040" y="1719072"/>
            <a:ext cx="150876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Separation</a:t>
            </a:r>
            <a:endParaRPr lang="en-US" sz="1400" dirty="0"/>
          </a:p>
        </p:txBody>
      </p:sp>
      <p:sp>
        <p:nvSpPr>
          <p:cNvPr id="14" name="Text 12"/>
          <p:cNvSpPr txBox="1"/>
          <p:nvPr/>
        </p:nvSpPr>
        <p:spPr>
          <a:xfrm>
            <a:off x="4892040" y="2103120"/>
            <a:ext cx="1508760" cy="868680"/>
          </a:xfrm>
          <a:prstGeom prst="rect">
            <a:avLst/>
          </a:prstGeom>
          <a:noFill/>
          <a:ln/>
        </p:spPr>
        <p:txBody>
          <a:bodyPr wrap="square" lIns="0" tIns="0" rIns="0" bIns="0" rtlCol="0" anchor="t"/>
          <a:lstStyle/>
          <a:p>
            <a:pPr indent="0" marL="0">
              <a:buNone/>
            </a:pPr>
            <a:r>
              <a:rPr lang="en-US" sz="1150" dirty="0">
                <a:solidFill>
                  <a:srgbClr val="5A6272"/>
                </a:solidFill>
                <a:latin typeface="Calibri" pitchFamily="34" charset="0"/>
                <a:ea typeface="Calibri" pitchFamily="34" charset="-122"/>
                <a:cs typeface="Calibri" pitchFamily="34" charset="-120"/>
              </a:rPr>
              <a:t>SepFormer splits 2 voices; ECAPA matches each to a speaker</a:t>
            </a:r>
            <a:endParaRPr lang="en-US" sz="1150" dirty="0"/>
          </a:p>
        </p:txBody>
      </p:sp>
      <p:sp>
        <p:nvSpPr>
          <p:cNvPr id="15" name="Shape 13"/>
          <p:cNvSpPr/>
          <p:nvPr/>
        </p:nvSpPr>
        <p:spPr>
          <a:xfrm>
            <a:off x="6629400" y="2194560"/>
            <a:ext cx="182880" cy="237744"/>
          </a:xfrm>
          <a:prstGeom prst="rightArrow">
            <a:avLst/>
          </a:prstGeom>
          <a:solidFill>
            <a:srgbClr val="C46A1C"/>
          </a:solidFill>
          <a:ln w="12700">
            <a:solidFill>
              <a:srgbClr val="C46A1C"/>
            </a:solidFill>
            <a:prstDash val="solid"/>
          </a:ln>
        </p:spPr>
      </p:sp>
      <p:sp>
        <p:nvSpPr>
          <p:cNvPr id="16" name="Shape 14"/>
          <p:cNvSpPr/>
          <p:nvPr/>
        </p:nvSpPr>
        <p:spPr>
          <a:xfrm>
            <a:off x="6903720" y="1600200"/>
            <a:ext cx="1783080" cy="1417320"/>
          </a:xfrm>
          <a:prstGeom prst="roundRect">
            <a:avLst>
              <a:gd name="adj" fmla="val 5161"/>
            </a:avLst>
          </a:prstGeom>
          <a:solidFill>
            <a:srgbClr val="FFFFFF"/>
          </a:solidFill>
          <a:ln w="22225">
            <a:solidFill>
              <a:srgbClr val="2F6DB5"/>
            </a:solidFill>
            <a:prstDash val="solid"/>
          </a:ln>
        </p:spPr>
      </p:sp>
      <p:sp>
        <p:nvSpPr>
          <p:cNvPr id="17" name="Text 15"/>
          <p:cNvSpPr txBox="1"/>
          <p:nvPr/>
        </p:nvSpPr>
        <p:spPr>
          <a:xfrm>
            <a:off x="7040880" y="1719072"/>
            <a:ext cx="150876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Verbatim ASR</a:t>
            </a:r>
            <a:endParaRPr lang="en-US" sz="1400" dirty="0"/>
          </a:p>
        </p:txBody>
      </p:sp>
      <p:sp>
        <p:nvSpPr>
          <p:cNvPr id="18" name="Text 16"/>
          <p:cNvSpPr txBox="1"/>
          <p:nvPr/>
        </p:nvSpPr>
        <p:spPr>
          <a:xfrm>
            <a:off x="7040880" y="2103120"/>
            <a:ext cx="1508760" cy="868680"/>
          </a:xfrm>
          <a:prstGeom prst="rect">
            <a:avLst/>
          </a:prstGeom>
          <a:noFill/>
          <a:ln/>
        </p:spPr>
        <p:txBody>
          <a:bodyPr wrap="square" lIns="0" tIns="0" rIns="0" bIns="0" rtlCol="0" anchor="t"/>
          <a:lstStyle/>
          <a:p>
            <a:pPr indent="0" marL="0">
              <a:buNone/>
            </a:pPr>
            <a:r>
              <a:rPr lang="en-US" sz="1150" dirty="0">
                <a:solidFill>
                  <a:srgbClr val="5A6272"/>
                </a:solidFill>
                <a:latin typeface="Calibri" pitchFamily="34" charset="0"/>
                <a:ea typeface="Calibri" pitchFamily="34" charset="-122"/>
                <a:cs typeface="Calibri" pitchFamily="34" charset="-120"/>
              </a:rPr>
              <a:t>Whisper-small, adapted on AMI</a:t>
            </a:r>
            <a:endParaRPr lang="en-US" sz="1150" dirty="0"/>
          </a:p>
        </p:txBody>
      </p:sp>
      <p:sp>
        <p:nvSpPr>
          <p:cNvPr id="19" name="Text 17"/>
          <p:cNvSpPr txBox="1"/>
          <p:nvPr/>
        </p:nvSpPr>
        <p:spPr>
          <a:xfrm>
            <a:off x="457200" y="3337560"/>
            <a:ext cx="3931920" cy="914400"/>
          </a:xfrm>
          <a:prstGeom prst="rect">
            <a:avLst/>
          </a:prstGeom>
          <a:noFill/>
          <a:ln/>
        </p:spPr>
        <p:txBody>
          <a:bodyPr wrap="square" lIns="0" tIns="0" rIns="0" bIns="0" rtlCol="0" anchor="t"/>
          <a:lstStyle/>
          <a:p>
            <a:pPr indent="0" marL="0">
              <a:buNone/>
            </a:pPr>
            <a:r>
              <a:rPr lang="en-US" sz="1300" b="1" dirty="0">
                <a:solidFill>
                  <a:srgbClr val="3D4555"/>
                </a:solidFill>
                <a:latin typeface="Calibri" pitchFamily="34" charset="0"/>
                <a:ea typeface="Calibri" pitchFamily="34" charset="-122"/>
                <a:cs typeface="Calibri" pitchFamily="34" charset="-120"/>
              </a:rPr>
              <a:t>Single-speaker segments skip separation. </a:t>
            </a:r>
            <a:pPr indent="0" marL="0">
              <a:buNone/>
            </a:pPr>
            <a:r>
              <a:rPr lang="en-US" sz="1300" dirty="0">
                <a:solidFill>
                  <a:srgbClr val="3D4555"/>
                </a:solidFill>
                <a:latin typeface="Calibri" pitchFamily="34" charset="0"/>
                <a:ea typeface="Calibri" pitchFamily="34" charset="-122"/>
                <a:cs typeface="Calibri" pitchFamily="34" charset="-120"/>
              </a:rPr>
              <a:t>Separated streams are matched to speakers by voice print, because separator output order is arbitrary.</a:t>
            </a:r>
            <a:endParaRPr lang="en-US" sz="1300" dirty="0"/>
          </a:p>
        </p:txBody>
      </p:sp>
      <p:sp>
        <p:nvSpPr>
          <p:cNvPr id="20" name="Text 18"/>
          <p:cNvSpPr txBox="1"/>
          <p:nvPr/>
        </p:nvSpPr>
        <p:spPr>
          <a:xfrm>
            <a:off x="4754880" y="3337560"/>
            <a:ext cx="3931920" cy="914400"/>
          </a:xfrm>
          <a:prstGeom prst="rect">
            <a:avLst/>
          </a:prstGeom>
          <a:noFill/>
          <a:ln/>
        </p:spPr>
        <p:txBody>
          <a:bodyPr wrap="square" lIns="0" tIns="0" rIns="0" bIns="0" rtlCol="0" anchor="t"/>
          <a:lstStyle/>
          <a:p>
            <a:pPr indent="0" marL="0">
              <a:buNone/>
            </a:pPr>
            <a:r>
              <a:rPr lang="en-US" sz="1300" b="1" dirty="0">
                <a:solidFill>
                  <a:srgbClr val="3D4555"/>
                </a:solidFill>
                <a:latin typeface="Calibri" pitchFamily="34" charset="0"/>
                <a:ea typeface="Calibri" pitchFamily="34" charset="-122"/>
                <a:cs typeface="Calibri" pitchFamily="34" charset="-120"/>
              </a:rPr>
              <a:t>Lines merge by start time, </a:t>
            </a:r>
            <a:pPr indent="0" marL="0">
              <a:buNone/>
            </a:pPr>
            <a:r>
              <a:rPr lang="en-US" sz="1300" dirty="0">
                <a:solidFill>
                  <a:srgbClr val="3D4555"/>
                </a:solidFill>
                <a:latin typeface="Calibri" pitchFamily="34" charset="0"/>
                <a:ea typeface="Calibri" pitchFamily="34" charset="-122"/>
                <a:cs typeface="Calibri" pitchFamily="34" charset="-120"/>
              </a:rPr>
              <a:t>so interruptions show as separate, correctly ordered lines. Optional enrolment swaps Speaker_N for a real name.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OVERLAP</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Separation recovers the hidden speaker</a:t>
            </a:r>
            <a:endParaRPr lang="en-US" sz="2400" dirty="0"/>
          </a:p>
        </p:txBody>
      </p:sp>
      <p:sp>
        <p:nvSpPr>
          <p:cNvPr id="4" name="Text 2"/>
          <p:cNvSpPr txBox="1"/>
          <p:nvPr/>
        </p:nvSpPr>
        <p:spPr>
          <a:xfrm>
            <a:off x="457200" y="1554480"/>
            <a:ext cx="2499360" cy="731520"/>
          </a:xfrm>
          <a:prstGeom prst="rect">
            <a:avLst/>
          </a:prstGeom>
          <a:noFill/>
          <a:ln/>
        </p:spPr>
        <p:txBody>
          <a:bodyPr wrap="square" lIns="0" tIns="0" rIns="0" bIns="0" rtlCol="0" anchor="b"/>
          <a:lstStyle/>
          <a:p>
            <a:pPr indent="0" marL="0">
              <a:buNone/>
            </a:pPr>
            <a:r>
              <a:rPr lang="en-US" sz="3400" b="1" dirty="0">
                <a:solidFill>
                  <a:srgbClr val="C46A1C"/>
                </a:solidFill>
                <a:latin typeface="Cambria" pitchFamily="34" charset="0"/>
                <a:ea typeface="Cambria" pitchFamily="34" charset="-122"/>
                <a:cs typeface="Cambria" pitchFamily="34" charset="-120"/>
              </a:rPr>
              <a:t>19.0 dB</a:t>
            </a:r>
            <a:endParaRPr lang="en-US" sz="3400" dirty="0"/>
          </a:p>
        </p:txBody>
      </p:sp>
      <p:sp>
        <p:nvSpPr>
          <p:cNvPr id="5" name="Text 3"/>
          <p:cNvSpPr txBox="1"/>
          <p:nvPr/>
        </p:nvSpPr>
        <p:spPr>
          <a:xfrm>
            <a:off x="457200" y="2359152"/>
            <a:ext cx="249936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SI-SDR improvement, two synthetic voices (Libri2Mix SepFormer; 7.6 dB WSJ0-2mix, 1.5 dB WHAMR!)</a:t>
            </a:r>
            <a:endParaRPr lang="en-US" sz="1300" dirty="0"/>
          </a:p>
        </p:txBody>
      </p:sp>
      <p:sp>
        <p:nvSpPr>
          <p:cNvPr id="6" name="Text 4"/>
          <p:cNvSpPr txBox="1"/>
          <p:nvPr/>
        </p:nvSpPr>
        <p:spPr>
          <a:xfrm>
            <a:off x="3322320" y="1554480"/>
            <a:ext cx="2499360" cy="731520"/>
          </a:xfrm>
          <a:prstGeom prst="rect">
            <a:avLst/>
          </a:prstGeom>
          <a:noFill/>
          <a:ln/>
        </p:spPr>
        <p:txBody>
          <a:bodyPr wrap="square" lIns="0" tIns="0" rIns="0" bIns="0" rtlCol="0" anchor="b"/>
          <a:lstStyle/>
          <a:p>
            <a:pPr indent="0" marL="0">
              <a:buNone/>
            </a:pPr>
            <a:r>
              <a:rPr lang="en-US" sz="3400" b="1" dirty="0">
                <a:solidFill>
                  <a:srgbClr val="2F6DB5"/>
                </a:solidFill>
                <a:latin typeface="Cambria" pitchFamily="34" charset="0"/>
                <a:ea typeface="Cambria" pitchFamily="34" charset="-122"/>
                <a:cs typeface="Cambria" pitchFamily="34" charset="-120"/>
              </a:rPr>
              <a:t>12.4 dB</a:t>
            </a:r>
            <a:endParaRPr lang="en-US" sz="3400" dirty="0"/>
          </a:p>
        </p:txBody>
      </p:sp>
      <p:sp>
        <p:nvSpPr>
          <p:cNvPr id="7" name="Text 5"/>
          <p:cNvSpPr txBox="1"/>
          <p:nvPr/>
        </p:nvSpPr>
        <p:spPr>
          <a:xfrm>
            <a:off x="3322320" y="2359152"/>
            <a:ext cx="249936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SI-SDR improvement, real recorded voice + synthetic voice, 6.5 s overlap</a:t>
            </a:r>
            <a:endParaRPr lang="en-US" sz="1300" dirty="0"/>
          </a:p>
        </p:txBody>
      </p:sp>
      <p:sp>
        <p:nvSpPr>
          <p:cNvPr id="8" name="Text 6"/>
          <p:cNvSpPr txBox="1"/>
          <p:nvPr/>
        </p:nvSpPr>
        <p:spPr>
          <a:xfrm>
            <a:off x="6187440" y="1554480"/>
            <a:ext cx="2499360" cy="731520"/>
          </a:xfrm>
          <a:prstGeom prst="rect">
            <a:avLst/>
          </a:prstGeom>
          <a:noFill/>
          <a:ln/>
        </p:spPr>
        <p:txBody>
          <a:bodyPr wrap="square" lIns="0" tIns="0" rIns="0" bIns="0" rtlCol="0" anchor="b"/>
          <a:lstStyle/>
          <a:p>
            <a:pPr indent="0" marL="0">
              <a:buNone/>
            </a:pPr>
            <a:r>
              <a:rPr lang="en-US" sz="3400" b="1" dirty="0">
                <a:solidFill>
                  <a:srgbClr val="C46A1C"/>
                </a:solidFill>
                <a:latin typeface="Cambria" pitchFamily="34" charset="0"/>
                <a:ea typeface="Cambria" pitchFamily="34" charset="-122"/>
                <a:cs typeface="Cambria" pitchFamily="34" charset="-120"/>
              </a:rPr>
              <a:t>45% → 0%</a:t>
            </a:r>
            <a:endParaRPr lang="en-US" sz="3400" dirty="0"/>
          </a:p>
        </p:txBody>
      </p:sp>
      <p:sp>
        <p:nvSpPr>
          <p:cNvPr id="9" name="Text 7"/>
          <p:cNvSpPr txBox="1"/>
          <p:nvPr/>
        </p:nvSpPr>
        <p:spPr>
          <a:xfrm>
            <a:off x="6187440" y="2359152"/>
            <a:ext cx="249936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cpWER on the synthetic two-speaker demo, without vs with separation</a:t>
            </a:r>
            <a:endParaRPr lang="en-US" sz="1300" dirty="0"/>
          </a:p>
        </p:txBody>
      </p:sp>
      <p:sp>
        <p:nvSpPr>
          <p:cNvPr id="10" name="Text 8"/>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100" i="1" dirty="0">
                <a:solidFill>
                  <a:srgbClr val="5A6272"/>
                </a:solidFill>
                <a:latin typeface="Calibri" pitchFamily="34" charset="0"/>
                <a:ea typeface="Calibri" pitchFamily="34" charset="-122"/>
                <a:cs typeface="Calibri" pitchFamily="34" charset="-120"/>
              </a:rPr>
              <a:t>Single mixtures each, clean digital sums — indicative, not a benchmark. Overlap detection placed the overlap at 5.01–7.56 s vs a true 5.0–7.5 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LIVE MODE</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Measuring cost made it near-real-time</a:t>
            </a:r>
            <a:endParaRPr lang="en-US" sz="2400" dirty="0"/>
          </a:p>
        </p:txBody>
      </p:sp>
      <p:sp>
        <p:nvSpPr>
          <p:cNvPr id="4" name="Text 2"/>
          <p:cNvSpPr txBox="1"/>
          <p:nvPr/>
        </p:nvSpPr>
        <p:spPr>
          <a:xfrm>
            <a:off x="457200" y="1463040"/>
            <a:ext cx="3840480" cy="731520"/>
          </a:xfrm>
          <a:prstGeom prst="rect">
            <a:avLst/>
          </a:prstGeom>
          <a:noFill/>
          <a:ln/>
        </p:spPr>
        <p:txBody>
          <a:bodyPr wrap="square" lIns="0" tIns="0" rIns="0" bIns="0" rtlCol="0" anchor="b"/>
          <a:lstStyle/>
          <a:p>
            <a:pPr indent="0" marL="0">
              <a:buNone/>
            </a:pPr>
            <a:r>
              <a:rPr lang="en-US" sz="4400" b="1" dirty="0">
                <a:solidFill>
                  <a:srgbClr val="C46A1C"/>
                </a:solidFill>
                <a:latin typeface="Cambria" pitchFamily="34" charset="0"/>
                <a:ea typeface="Cambria" pitchFamily="34" charset="-122"/>
                <a:cs typeface="Cambria" pitchFamily="34" charset="-120"/>
              </a:rPr>
              <a:t>5.2×</a:t>
            </a:r>
            <a:endParaRPr lang="en-US" sz="4400" dirty="0"/>
          </a:p>
        </p:txBody>
      </p:sp>
      <p:sp>
        <p:nvSpPr>
          <p:cNvPr id="5" name="Text 3"/>
          <p:cNvSpPr txBox="1"/>
          <p:nvPr/>
        </p:nvSpPr>
        <p:spPr>
          <a:xfrm>
            <a:off x="457200" y="2267712"/>
            <a:ext cx="384048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faster Whisper on the Apple GPU (MLX) vs CPU, identical transcript: 0.45 s vs 2.34 s for 4.4 s of audio</a:t>
            </a:r>
            <a:endParaRPr lang="en-US" sz="1300" dirty="0"/>
          </a:p>
        </p:txBody>
      </p:sp>
      <p:sp>
        <p:nvSpPr>
          <p:cNvPr id="6" name="Text 4"/>
          <p:cNvSpPr txBox="1"/>
          <p:nvPr/>
        </p:nvSpPr>
        <p:spPr>
          <a:xfrm>
            <a:off x="4754880" y="1463040"/>
            <a:ext cx="3931920" cy="731520"/>
          </a:xfrm>
          <a:prstGeom prst="rect">
            <a:avLst/>
          </a:prstGeom>
          <a:noFill/>
          <a:ln/>
        </p:spPr>
        <p:txBody>
          <a:bodyPr wrap="square" lIns="0" tIns="0" rIns="0" bIns="0" rtlCol="0" anchor="b"/>
          <a:lstStyle/>
          <a:p>
            <a:pPr indent="0" marL="0">
              <a:buNone/>
            </a:pPr>
            <a:r>
              <a:rPr lang="en-US" sz="4400" b="1" dirty="0">
                <a:solidFill>
                  <a:srgbClr val="2F6DB5"/>
                </a:solidFill>
                <a:latin typeface="Cambria" pitchFamily="34" charset="0"/>
                <a:ea typeface="Cambria" pitchFamily="34" charset="-122"/>
                <a:cs typeface="Cambria" pitchFamily="34" charset="-120"/>
              </a:rPr>
              <a:t>14.5 → 8 s</a:t>
            </a:r>
            <a:endParaRPr lang="en-US" sz="4400" dirty="0"/>
          </a:p>
        </p:txBody>
      </p:sp>
      <p:sp>
        <p:nvSpPr>
          <p:cNvPr id="7" name="Text 5"/>
          <p:cNvSpPr txBox="1"/>
          <p:nvPr/>
        </p:nvSpPr>
        <p:spPr>
          <a:xfrm>
            <a:off x="4754880" y="2267712"/>
            <a:ext cx="393192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mean speech-to-line latency on a two-speaker clip; the maximum fell from 25 s and stopped growing</a:t>
            </a:r>
            <a:endParaRPr lang="en-US" sz="1300" dirty="0"/>
          </a:p>
        </p:txBody>
      </p:sp>
      <p:sp>
        <p:nvSpPr>
          <p:cNvPr id="8" name="Shape 6"/>
          <p:cNvSpPr/>
          <p:nvPr/>
        </p:nvSpPr>
        <p:spPr>
          <a:xfrm>
            <a:off x="457200" y="3337560"/>
            <a:ext cx="3931920" cy="1280160"/>
          </a:xfrm>
          <a:prstGeom prst="roundRect">
            <a:avLst>
              <a:gd name="adj" fmla="val 5714"/>
            </a:avLst>
          </a:prstGeom>
          <a:solidFill>
            <a:srgbClr val="EEF2F8"/>
          </a:solidFill>
          <a:ln w="12700">
            <a:solidFill>
              <a:srgbClr val="EEF2F8"/>
            </a:solidFill>
            <a:prstDash val="solid"/>
          </a:ln>
        </p:spPr>
      </p:sp>
      <p:sp>
        <p:nvSpPr>
          <p:cNvPr id="9" name="Text 7"/>
          <p:cNvSpPr txBox="1"/>
          <p:nvPr/>
        </p:nvSpPr>
        <p:spPr>
          <a:xfrm>
            <a:off x="640080" y="3502152"/>
            <a:ext cx="356616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Call cost is fixed</a:t>
            </a:r>
            <a:endParaRPr lang="en-US" sz="1500" dirty="0"/>
          </a:p>
        </p:txBody>
      </p:sp>
      <p:sp>
        <p:nvSpPr>
          <p:cNvPr id="10" name="Text 8"/>
          <p:cNvSpPr txBox="1"/>
          <p:nvPr/>
        </p:nvSpPr>
        <p:spPr>
          <a:xfrm>
            <a:off x="640080" y="3886200"/>
            <a:ext cx="3566160" cy="59436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Whisper always encodes a 30 s window, so cost scales with the number of calls: clean clips are packed into one call.</a:t>
            </a:r>
            <a:endParaRPr lang="en-US" sz="1250" dirty="0"/>
          </a:p>
        </p:txBody>
      </p:sp>
      <p:sp>
        <p:nvSpPr>
          <p:cNvPr id="11" name="Shape 9"/>
          <p:cNvSpPr/>
          <p:nvPr/>
        </p:nvSpPr>
        <p:spPr>
          <a:xfrm>
            <a:off x="4754880" y="3337560"/>
            <a:ext cx="3931920" cy="1280160"/>
          </a:xfrm>
          <a:prstGeom prst="roundRect">
            <a:avLst>
              <a:gd name="adj" fmla="val 5714"/>
            </a:avLst>
          </a:prstGeom>
          <a:solidFill>
            <a:srgbClr val="EEF2F8"/>
          </a:solidFill>
          <a:ln w="12700">
            <a:solidFill>
              <a:srgbClr val="EEF2F8"/>
            </a:solidFill>
            <a:prstDash val="solid"/>
          </a:ln>
        </p:spPr>
      </p:sp>
      <p:sp>
        <p:nvSpPr>
          <p:cNvPr id="12" name="Text 10"/>
          <p:cNvSpPr txBox="1"/>
          <p:nvPr/>
        </p:nvSpPr>
        <p:spPr>
          <a:xfrm>
            <a:off x="4937760" y="3502152"/>
            <a:ext cx="356616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But not overlaps</a:t>
            </a:r>
            <a:endParaRPr lang="en-US" sz="1500" dirty="0"/>
          </a:p>
        </p:txBody>
      </p:sp>
      <p:sp>
        <p:nvSpPr>
          <p:cNvPr id="13" name="Text 11"/>
          <p:cNvSpPr txBox="1"/>
          <p:nvPr/>
        </p:nvSpPr>
        <p:spPr>
          <a:xfrm>
            <a:off x="4937760" y="3886200"/>
            <a:ext cx="3566160" cy="59436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Packing separated streams lost a whole utterance, so those are transcribed alone.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VERBATIM ADAPTATION</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Fine-tuning Whisper on a 16 GB fanless laptop</a:t>
            </a:r>
            <a:endParaRPr lang="en-US" sz="2400" dirty="0"/>
          </a:p>
        </p:txBody>
      </p:sp>
      <p:sp>
        <p:nvSpPr>
          <p:cNvPr id="4" name="Shape 2"/>
          <p:cNvSpPr/>
          <p:nvPr/>
        </p:nvSpPr>
        <p:spPr>
          <a:xfrm>
            <a:off x="457200" y="1554480"/>
            <a:ext cx="2590800" cy="2651760"/>
          </a:xfrm>
          <a:prstGeom prst="roundRect">
            <a:avLst>
              <a:gd name="adj" fmla="val 2824"/>
            </a:avLst>
          </a:prstGeom>
          <a:solidFill>
            <a:srgbClr val="EEF2F8"/>
          </a:solidFill>
          <a:ln w="12700">
            <a:solidFill>
              <a:srgbClr val="EEF2F8"/>
            </a:solidFill>
            <a:prstDash val="solid"/>
          </a:ln>
        </p:spPr>
      </p:sp>
      <p:sp>
        <p:nvSpPr>
          <p:cNvPr id="5" name="Text 3"/>
          <p:cNvSpPr txBox="1"/>
          <p:nvPr/>
        </p:nvSpPr>
        <p:spPr>
          <a:xfrm>
            <a:off x="640080" y="1719072"/>
            <a:ext cx="222504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Data</a:t>
            </a:r>
            <a:endParaRPr lang="en-US" sz="1500" dirty="0"/>
          </a:p>
        </p:txBody>
      </p:sp>
      <p:sp>
        <p:nvSpPr>
          <p:cNvPr id="6" name="Text 4"/>
          <p:cNvSpPr txBox="1"/>
          <p:nvPr/>
        </p:nvSpPr>
        <p:spPr>
          <a:xfrm>
            <a:off x="640080" y="2103120"/>
            <a:ext cx="2225040" cy="196596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AMI meeting corpus, single distant mic, verbatim transcripts with fillers (CC BY 4.0).</a:t>
            </a:r>
            <a:endParaRPr lang="en-US" sz="1250" dirty="0"/>
          </a:p>
          <a:p>
            <a:pPr indent="0" marL="0">
              <a:buNone/>
            </a:pPr>
            <a:endParaRPr lang="en-US" sz="1250" dirty="0"/>
          </a:p>
          <a:p>
            <a:pPr indent="0" marL="0">
              <a:buNone/>
            </a:pPr>
            <a:r>
              <a:rPr lang="en-US" sz="1250" dirty="0">
                <a:solidFill>
                  <a:srgbClr val="3D4555"/>
                </a:solidFill>
                <a:latin typeface="Calibri" pitchFamily="34" charset="0"/>
                <a:ea typeface="Calibri" pitchFamily="34" charset="-122"/>
                <a:cs typeface="Calibri" pitchFamily="34" charset="-120"/>
              </a:rPr>
              <a:t>17,704 windows · 21.7 h · 78 meetings.</a:t>
            </a:r>
            <a:endParaRPr lang="en-US" sz="1250" dirty="0"/>
          </a:p>
        </p:txBody>
      </p:sp>
      <p:sp>
        <p:nvSpPr>
          <p:cNvPr id="7" name="Shape 5"/>
          <p:cNvSpPr/>
          <p:nvPr/>
        </p:nvSpPr>
        <p:spPr>
          <a:xfrm>
            <a:off x="3276600" y="1554480"/>
            <a:ext cx="2590800" cy="2651760"/>
          </a:xfrm>
          <a:prstGeom prst="roundRect">
            <a:avLst>
              <a:gd name="adj" fmla="val 2824"/>
            </a:avLst>
          </a:prstGeom>
          <a:solidFill>
            <a:srgbClr val="EEF2F8"/>
          </a:solidFill>
          <a:ln w="12700">
            <a:solidFill>
              <a:srgbClr val="EEF2F8"/>
            </a:solidFill>
            <a:prstDash val="solid"/>
          </a:ln>
        </p:spPr>
      </p:sp>
      <p:sp>
        <p:nvSpPr>
          <p:cNvPr id="8" name="Text 6"/>
          <p:cNvSpPr txBox="1"/>
          <p:nvPr/>
        </p:nvSpPr>
        <p:spPr>
          <a:xfrm>
            <a:off x="3459480" y="1719072"/>
            <a:ext cx="222504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Cached encoder</a:t>
            </a:r>
            <a:endParaRPr lang="en-US" sz="1500" dirty="0"/>
          </a:p>
        </p:txBody>
      </p:sp>
      <p:sp>
        <p:nvSpPr>
          <p:cNvPr id="9" name="Text 7"/>
          <p:cNvSpPr txBox="1"/>
          <p:nvPr/>
        </p:nvSpPr>
        <p:spPr>
          <a:xfrm>
            <a:off x="3459480" y="2103120"/>
            <a:ext cx="2225040" cy="196596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Frozen lower 10 encoder layers run once; the top 2 layers + decoder train from the cache.</a:t>
            </a:r>
            <a:endParaRPr lang="en-US" sz="1250" dirty="0"/>
          </a:p>
          <a:p>
            <a:pPr indent="0" marL="0">
              <a:buNone/>
            </a:pPr>
            <a:endParaRPr lang="en-US" sz="1250" dirty="0"/>
          </a:p>
          <a:p>
            <a:pPr indent="0" marL="0">
              <a:buNone/>
            </a:pPr>
            <a:r>
              <a:rPr lang="en-US" sz="1250" dirty="0">
                <a:solidFill>
                  <a:srgbClr val="3D4555"/>
                </a:solidFill>
                <a:latin typeface="Calibri" pitchFamily="34" charset="0"/>
                <a:ea typeface="Calibri" pitchFamily="34" charset="-122"/>
                <a:cs typeface="Calibri" pitchFamily="34" charset="-120"/>
              </a:rPr>
              <a:t>The encoder dominated compute (2.8 s vs 0.46 s).</a:t>
            </a:r>
            <a:endParaRPr lang="en-US" sz="1250" dirty="0"/>
          </a:p>
        </p:txBody>
      </p:sp>
      <p:sp>
        <p:nvSpPr>
          <p:cNvPr id="10" name="Shape 8"/>
          <p:cNvSpPr/>
          <p:nvPr/>
        </p:nvSpPr>
        <p:spPr>
          <a:xfrm>
            <a:off x="6096000" y="1554480"/>
            <a:ext cx="2590800" cy="2651760"/>
          </a:xfrm>
          <a:prstGeom prst="roundRect">
            <a:avLst>
              <a:gd name="adj" fmla="val 2824"/>
            </a:avLst>
          </a:prstGeom>
          <a:solidFill>
            <a:srgbClr val="EEF2F8"/>
          </a:solidFill>
          <a:ln w="12700">
            <a:solidFill>
              <a:srgbClr val="EEF2F8"/>
            </a:solidFill>
            <a:prstDash val="solid"/>
          </a:ln>
        </p:spPr>
      </p:sp>
      <p:sp>
        <p:nvSpPr>
          <p:cNvPr id="11" name="Text 9"/>
          <p:cNvSpPr txBox="1"/>
          <p:nvPr/>
        </p:nvSpPr>
        <p:spPr>
          <a:xfrm>
            <a:off x="6278880" y="1719072"/>
            <a:ext cx="222504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Recipe</a:t>
            </a:r>
            <a:endParaRPr lang="en-US" sz="1500" dirty="0"/>
          </a:p>
        </p:txBody>
      </p:sp>
      <p:sp>
        <p:nvSpPr>
          <p:cNvPr id="12" name="Text 10"/>
          <p:cNvSpPr txBox="1"/>
          <p:nvPr/>
        </p:nvSpPr>
        <p:spPr>
          <a:xfrm>
            <a:off x="6278880" y="2103120"/>
            <a:ext cx="2225040" cy="196596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AdamW 1e-5, weight decay 0.01, latent masking, batch 2 × 4.</a:t>
            </a:r>
            <a:endParaRPr lang="en-US" sz="1250" dirty="0"/>
          </a:p>
          <a:p>
            <a:pPr indent="0" marL="0">
              <a:buNone/>
            </a:pPr>
            <a:endParaRPr lang="en-US" sz="1250" dirty="0"/>
          </a:p>
          <a:p>
            <a:pPr indent="0" marL="0">
              <a:buNone/>
            </a:pPr>
            <a:r>
              <a:rPr lang="en-US" sz="1250" dirty="0">
                <a:solidFill>
                  <a:srgbClr val="3D4555"/>
                </a:solidFill>
                <a:latin typeface="Calibri" pitchFamily="34" charset="0"/>
                <a:ea typeface="Calibri" pitchFamily="34" charset="-122"/>
                <a:cs typeface="Calibri" pitchFamily="34" charset="-120"/>
              </a:rPr>
              <a:t>Best validation WER at step 200 of 1,400 — that checkpoint is used.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WHAT WENT WRONG FIRST</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The first model learned to transcribe everyone</a:t>
            </a:r>
            <a:endParaRPr lang="en-US" sz="2400" dirty="0"/>
          </a:p>
        </p:txBody>
      </p:sp>
      <p:sp>
        <p:nvSpPr>
          <p:cNvPr id="4" name="Text 2"/>
          <p:cNvSpPr txBox="1"/>
          <p:nvPr/>
        </p:nvSpPr>
        <p:spPr>
          <a:xfrm>
            <a:off x="457200" y="1463040"/>
            <a:ext cx="3840480" cy="731520"/>
          </a:xfrm>
          <a:prstGeom prst="rect">
            <a:avLst/>
          </a:prstGeom>
          <a:noFill/>
          <a:ln/>
        </p:spPr>
        <p:txBody>
          <a:bodyPr wrap="square" lIns="0" tIns="0" rIns="0" bIns="0" rtlCol="0" anchor="b"/>
          <a:lstStyle/>
          <a:p>
            <a:pPr indent="0" marL="0">
              <a:buNone/>
            </a:pPr>
            <a:r>
              <a:rPr lang="en-US" sz="4400" b="1" dirty="0">
                <a:solidFill>
                  <a:srgbClr val="C46A1C"/>
                </a:solidFill>
                <a:latin typeface="Cambria" pitchFamily="34" charset="0"/>
                <a:ea typeface="Cambria" pitchFamily="34" charset="-122"/>
                <a:cs typeface="Cambria" pitchFamily="34" charset="-120"/>
              </a:rPr>
              <a:t>+3.7 pts</a:t>
            </a:r>
            <a:endParaRPr lang="en-US" sz="4400" dirty="0"/>
          </a:p>
        </p:txBody>
      </p:sp>
      <p:sp>
        <p:nvSpPr>
          <p:cNvPr id="5" name="Text 3"/>
          <p:cNvSpPr txBox="1"/>
          <p:nvPr/>
        </p:nvSpPr>
        <p:spPr>
          <a:xfrm>
            <a:off x="457200" y="2267712"/>
            <a:ext cx="384048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WER of the first fine-tune vs stock (38.8% → 42.5%), despite keeping 74% of fillers</a:t>
            </a:r>
            <a:endParaRPr lang="en-US" sz="1300" dirty="0"/>
          </a:p>
        </p:txBody>
      </p:sp>
      <p:sp>
        <p:nvSpPr>
          <p:cNvPr id="6" name="Text 4"/>
          <p:cNvSpPr txBox="1"/>
          <p:nvPr/>
        </p:nvSpPr>
        <p:spPr>
          <a:xfrm>
            <a:off x="4754880" y="1463040"/>
            <a:ext cx="3931920" cy="731520"/>
          </a:xfrm>
          <a:prstGeom prst="rect">
            <a:avLst/>
          </a:prstGeom>
          <a:noFill/>
          <a:ln/>
        </p:spPr>
        <p:txBody>
          <a:bodyPr wrap="square" lIns="0" tIns="0" rIns="0" bIns="0" rtlCol="0" anchor="b"/>
          <a:lstStyle/>
          <a:p>
            <a:pPr indent="0" marL="0">
              <a:buNone/>
            </a:pPr>
            <a:r>
              <a:rPr lang="en-US" sz="4400" b="1" dirty="0">
                <a:solidFill>
                  <a:srgbClr val="2F6DB5"/>
                </a:solidFill>
                <a:latin typeface="Cambria" pitchFamily="34" charset="0"/>
                <a:ea typeface="Cambria" pitchFamily="34" charset="-122"/>
                <a:cs typeface="Cambria" pitchFamily="34" charset="-120"/>
              </a:rPr>
              <a:t>10% → 29%</a:t>
            </a:r>
            <a:endParaRPr lang="en-US" sz="4400" dirty="0"/>
          </a:p>
        </p:txBody>
      </p:sp>
      <p:sp>
        <p:nvSpPr>
          <p:cNvPr id="7" name="Text 5"/>
          <p:cNvSpPr txBox="1"/>
          <p:nvPr/>
        </p:nvSpPr>
        <p:spPr>
          <a:xfrm>
            <a:off x="4754880" y="2267712"/>
            <a:ext cx="393192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insertions as a share of reference words: deletions halved, insertions nearly tripled</a:t>
            </a:r>
            <a:endParaRPr lang="en-US" sz="1300" dirty="0"/>
          </a:p>
        </p:txBody>
      </p:sp>
      <p:sp>
        <p:nvSpPr>
          <p:cNvPr id="8" name="Shape 6"/>
          <p:cNvSpPr/>
          <p:nvPr/>
        </p:nvSpPr>
        <p:spPr>
          <a:xfrm>
            <a:off x="457200" y="3383280"/>
            <a:ext cx="8229600" cy="1188720"/>
          </a:xfrm>
          <a:prstGeom prst="roundRect">
            <a:avLst>
              <a:gd name="adj" fmla="val 6154"/>
            </a:avLst>
          </a:prstGeom>
          <a:solidFill>
            <a:srgbClr val="EEF2F8"/>
          </a:solidFill>
          <a:ln w="12700">
            <a:solidFill>
              <a:srgbClr val="EEF2F8"/>
            </a:solidFill>
            <a:prstDash val="solid"/>
          </a:ln>
        </p:spPr>
      </p:sp>
      <p:sp>
        <p:nvSpPr>
          <p:cNvPr id="9" name="Text 7"/>
          <p:cNvSpPr txBox="1"/>
          <p:nvPr/>
        </p:nvSpPr>
        <p:spPr>
          <a:xfrm>
            <a:off x="685800" y="3474720"/>
            <a:ext cx="7772400" cy="100584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Training windows held </a:t>
            </a:r>
            <a:pPr indent="0" marL="0">
              <a:buNone/>
            </a:pPr>
            <a:r>
              <a:rPr lang="en-US" sz="1400" b="1" dirty="0">
                <a:solidFill>
                  <a:srgbClr val="14213D"/>
                </a:solidFill>
                <a:latin typeface="Calibri" pitchFamily="34" charset="0"/>
                <a:ea typeface="Calibri" pitchFamily="34" charset="-122"/>
                <a:cs typeface="Calibri" pitchFamily="34" charset="-120"/>
              </a:rPr>
              <a:t>every speaker’s words</a:t>
            </a:r>
            <a:pPr indent="0" marL="0">
              <a:buNone/>
            </a:pPr>
            <a:r>
              <a:rPr lang="en-US" sz="1400" dirty="0">
                <a:solidFill>
                  <a:srgbClr val="14213D"/>
                </a:solidFill>
                <a:latin typeface="Calibri" pitchFamily="34" charset="0"/>
                <a:ea typeface="Calibri" pitchFamily="34" charset="-122"/>
                <a:cs typeface="Calibri" pitchFamily="34" charset="-120"/>
              </a:rPr>
              <a:t>. Inside the pipeline the recogniser only ever hears </a:t>
            </a:r>
            <a:pPr indent="0" marL="0">
              <a:buNone/>
            </a:pPr>
            <a:r>
              <a:rPr lang="en-US" sz="1400" b="1" dirty="0">
                <a:solidFill>
                  <a:srgbClr val="14213D"/>
                </a:solidFill>
                <a:latin typeface="Calibri" pitchFamily="34" charset="0"/>
                <a:ea typeface="Calibri" pitchFamily="34" charset="-122"/>
                <a:cs typeface="Calibri" pitchFamily="34" charset="-120"/>
              </a:rPr>
              <a:t>one speaker</a:t>
            </a:r>
            <a:pPr indent="0" marL="0">
              <a:buNone/>
            </a:pPr>
            <a:r>
              <a:rPr lang="en-US" sz="1400" dirty="0">
                <a:solidFill>
                  <a:srgbClr val="14213D"/>
                </a:solidFill>
                <a:latin typeface="Calibri" pitchFamily="34" charset="0"/>
                <a:ea typeface="Calibri" pitchFamily="34" charset="-122"/>
                <a:cs typeface="Calibri" pitchFamily="34" charset="-120"/>
              </a:rPr>
              <a:t> — a clean segment or a separated stream. The model transcribed whoever was audible, and those words counted as errors.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F2B27A"/>
                </a:solidFill>
                <a:latin typeface="Calibri" pitchFamily="34" charset="0"/>
                <a:ea typeface="Calibri" pitchFamily="34" charset="-122"/>
                <a:cs typeface="Calibri" pitchFamily="34" charset="-120"/>
              </a:rPr>
              <a:t>THE FIX</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Train on exactly what the pipeline will feed it</a:t>
            </a:r>
            <a:endParaRPr lang="en-US" sz="2400" dirty="0"/>
          </a:p>
        </p:txBody>
      </p:sp>
      <p:sp>
        <p:nvSpPr>
          <p:cNvPr id="4" name="Shape 2"/>
          <p:cNvSpPr/>
          <p:nvPr/>
        </p:nvSpPr>
        <p:spPr>
          <a:xfrm>
            <a:off x="457200" y="1600200"/>
            <a:ext cx="2590800" cy="2468880"/>
          </a:xfrm>
          <a:prstGeom prst="roundRect">
            <a:avLst>
              <a:gd name="adj" fmla="val 2963"/>
            </a:avLst>
          </a:prstGeom>
          <a:solidFill>
            <a:srgbClr val="24345C"/>
          </a:solidFill>
          <a:ln w="12700">
            <a:solidFill>
              <a:srgbClr val="24345C"/>
            </a:solidFill>
            <a:prstDash val="solid"/>
          </a:ln>
        </p:spPr>
      </p:sp>
      <p:sp>
        <p:nvSpPr>
          <p:cNvPr id="5" name="Text 3"/>
          <p:cNvSpPr txBox="1"/>
          <p:nvPr/>
        </p:nvSpPr>
        <p:spPr>
          <a:xfrm>
            <a:off x="640080" y="1764792"/>
            <a:ext cx="22250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Same routing code</a:t>
            </a:r>
            <a:endParaRPr lang="en-US" sz="1500" dirty="0"/>
          </a:p>
        </p:txBody>
      </p:sp>
      <p:sp>
        <p:nvSpPr>
          <p:cNvPr id="6" name="Text 4"/>
          <p:cNvSpPr txBox="1"/>
          <p:nvPr/>
        </p:nvSpPr>
        <p:spPr>
          <a:xfrm>
            <a:off x="640080" y="2148840"/>
            <a:ext cx="2225040" cy="1783080"/>
          </a:xfrm>
          <a:prstGeom prst="rect">
            <a:avLst/>
          </a:prstGeom>
          <a:noFill/>
          <a:ln/>
        </p:spPr>
        <p:txBody>
          <a:bodyPr wrap="square" lIns="0" tIns="0" rIns="0" bIns="0" rtlCol="0" anchor="t"/>
          <a:lstStyle/>
          <a:p>
            <a:pPr indent="0" marL="0">
              <a:buNone/>
            </a:pPr>
            <a:r>
              <a:rPr lang="en-US" sz="1250" dirty="0">
                <a:solidFill>
                  <a:srgbClr val="C9D3E6"/>
                </a:solidFill>
                <a:latin typeface="Calibri" pitchFamily="34" charset="0"/>
                <a:ea typeface="Calibri" pitchFamily="34" charset="-122"/>
                <a:cs typeface="Calibri" pitchFamily="34" charset="-120"/>
              </a:rPr>
              <a:t>The pipeline’s own overlap-routing function picks single-speaker stretches; only those become training windows.</a:t>
            </a:r>
            <a:endParaRPr lang="en-US" sz="1250" dirty="0"/>
          </a:p>
        </p:txBody>
      </p:sp>
      <p:sp>
        <p:nvSpPr>
          <p:cNvPr id="7" name="Shape 5"/>
          <p:cNvSpPr/>
          <p:nvPr/>
        </p:nvSpPr>
        <p:spPr>
          <a:xfrm>
            <a:off x="3276600" y="1600200"/>
            <a:ext cx="2590800" cy="2468880"/>
          </a:xfrm>
          <a:prstGeom prst="roundRect">
            <a:avLst>
              <a:gd name="adj" fmla="val 2963"/>
            </a:avLst>
          </a:prstGeom>
          <a:solidFill>
            <a:srgbClr val="24345C"/>
          </a:solidFill>
          <a:ln w="12700">
            <a:solidFill>
              <a:srgbClr val="24345C"/>
            </a:solidFill>
            <a:prstDash val="solid"/>
          </a:ln>
        </p:spPr>
      </p:sp>
      <p:sp>
        <p:nvSpPr>
          <p:cNvPr id="8" name="Text 6"/>
          <p:cNvSpPr txBox="1"/>
          <p:nvPr/>
        </p:nvSpPr>
        <p:spPr>
          <a:xfrm>
            <a:off x="3459480" y="1764792"/>
            <a:ext cx="22250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One speaker each</a:t>
            </a:r>
            <a:endParaRPr lang="en-US" sz="1500" dirty="0"/>
          </a:p>
        </p:txBody>
      </p:sp>
      <p:sp>
        <p:nvSpPr>
          <p:cNvPr id="9" name="Text 7"/>
          <p:cNvSpPr txBox="1"/>
          <p:nvPr/>
        </p:nvSpPr>
        <p:spPr>
          <a:xfrm>
            <a:off x="3459480" y="2148840"/>
            <a:ext cx="2225040" cy="1783080"/>
          </a:xfrm>
          <a:prstGeom prst="rect">
            <a:avLst/>
          </a:prstGeom>
          <a:noFill/>
          <a:ln/>
        </p:spPr>
        <p:txBody>
          <a:bodyPr wrap="square" lIns="0" tIns="0" rIns="0" bIns="0" rtlCol="0" anchor="t"/>
          <a:lstStyle/>
          <a:p>
            <a:pPr indent="0" marL="0">
              <a:buNone/>
            </a:pPr>
            <a:r>
              <a:rPr lang="en-US" sz="1250" dirty="0">
                <a:solidFill>
                  <a:srgbClr val="C9D3E6"/>
                </a:solidFill>
                <a:latin typeface="Calibri" pitchFamily="34" charset="0"/>
                <a:ea typeface="Calibri" pitchFamily="34" charset="-122"/>
                <a:cs typeface="Calibri" pitchFamily="34" charset="-120"/>
              </a:rPr>
              <a:t>Every example is “this audio, this one speaker’s words”. Overlaps and repetition-loop windows are excluded.</a:t>
            </a:r>
            <a:endParaRPr lang="en-US" sz="1250" dirty="0"/>
          </a:p>
        </p:txBody>
      </p:sp>
      <p:sp>
        <p:nvSpPr>
          <p:cNvPr id="10" name="Shape 8"/>
          <p:cNvSpPr/>
          <p:nvPr/>
        </p:nvSpPr>
        <p:spPr>
          <a:xfrm>
            <a:off x="6096000" y="1600200"/>
            <a:ext cx="2590800" cy="2468880"/>
          </a:xfrm>
          <a:prstGeom prst="roundRect">
            <a:avLst>
              <a:gd name="adj" fmla="val 2963"/>
            </a:avLst>
          </a:prstGeom>
          <a:solidFill>
            <a:srgbClr val="24345C"/>
          </a:solidFill>
          <a:ln w="12700">
            <a:solidFill>
              <a:srgbClr val="24345C"/>
            </a:solidFill>
            <a:prstDash val="solid"/>
          </a:ln>
        </p:spPr>
      </p:sp>
      <p:sp>
        <p:nvSpPr>
          <p:cNvPr id="11" name="Text 9"/>
          <p:cNvSpPr txBox="1"/>
          <p:nvPr/>
        </p:nvSpPr>
        <p:spPr>
          <a:xfrm>
            <a:off x="6278880" y="1764792"/>
            <a:ext cx="222504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Honest selection</a:t>
            </a:r>
            <a:endParaRPr lang="en-US" sz="1500" dirty="0"/>
          </a:p>
        </p:txBody>
      </p:sp>
      <p:sp>
        <p:nvSpPr>
          <p:cNvPr id="12" name="Text 10"/>
          <p:cNvSpPr txBox="1"/>
          <p:nvPr/>
        </p:nvSpPr>
        <p:spPr>
          <a:xfrm>
            <a:off x="6278880" y="2148840"/>
            <a:ext cx="2225040" cy="1783080"/>
          </a:xfrm>
          <a:prstGeom prst="rect">
            <a:avLst/>
          </a:prstGeom>
          <a:noFill/>
          <a:ln/>
        </p:spPr>
        <p:txBody>
          <a:bodyPr wrap="square" lIns="0" tIns="0" rIns="0" bIns="0" rtlCol="0" anchor="t"/>
          <a:lstStyle/>
          <a:p>
            <a:pPr indent="0" marL="0">
              <a:buNone/>
            </a:pPr>
            <a:r>
              <a:rPr lang="en-US" sz="1250" dirty="0">
                <a:solidFill>
                  <a:srgbClr val="C9D3E6"/>
                </a:solidFill>
                <a:latin typeface="Calibri" pitchFamily="34" charset="0"/>
                <a:ea typeface="Calibri" pitchFamily="34" charset="-122"/>
                <a:cs typeface="Calibri" pitchFamily="34" charset="-120"/>
              </a:rPr>
              <a:t>Weight decay, latent masking, and the checkpoint chosen by validation WER, not the last step.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RESULT · 300 HELD-OUT AMI UTTERANCES</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Fillers kept, with no loss in accuracy</a:t>
            </a:r>
            <a:endParaRPr lang="en-US" sz="2400" dirty="0"/>
          </a:p>
        </p:txBody>
      </p:sp>
      <p:graphicFrame>
        <p:nvGraphicFramePr>
          <p:cNvPr id="4" name="Chart 0" descr=""/>
          <p:cNvGraphicFramePr/>
          <p:nvPr/>
        </p:nvGraphicFramePr>
        <p:xfrm>
          <a:off x="457200" y="137160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852160" y="1463040"/>
            <a:ext cx="2834640" cy="731520"/>
          </a:xfrm>
          <a:prstGeom prst="rect">
            <a:avLst/>
          </a:prstGeom>
          <a:noFill/>
          <a:ln/>
        </p:spPr>
        <p:txBody>
          <a:bodyPr wrap="square" lIns="0" tIns="0" rIns="0" bIns="0" rtlCol="0" anchor="b"/>
          <a:lstStyle/>
          <a:p>
            <a:pPr indent="0" marL="0">
              <a:buNone/>
            </a:pPr>
            <a:r>
              <a:rPr lang="en-US" sz="3400" b="1" dirty="0">
                <a:solidFill>
                  <a:srgbClr val="C46A1C"/>
                </a:solidFill>
                <a:latin typeface="Cambria" pitchFamily="34" charset="0"/>
                <a:ea typeface="Cambria" pitchFamily="34" charset="-122"/>
                <a:cs typeface="Cambria" pitchFamily="34" charset="-120"/>
              </a:rPr>
              <a:t>2% → 65%</a:t>
            </a:r>
            <a:endParaRPr lang="en-US" sz="3400" dirty="0"/>
          </a:p>
        </p:txBody>
      </p:sp>
      <p:sp>
        <p:nvSpPr>
          <p:cNvPr id="6" name="Text 3"/>
          <p:cNvSpPr txBox="1"/>
          <p:nvPr/>
        </p:nvSpPr>
        <p:spPr>
          <a:xfrm>
            <a:off x="5852160" y="2267712"/>
            <a:ext cx="283464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filler recall: 83 of 128 reference fillers kept, vs 3</a:t>
            </a:r>
            <a:endParaRPr lang="en-US" sz="1300" dirty="0"/>
          </a:p>
        </p:txBody>
      </p:sp>
      <p:sp>
        <p:nvSpPr>
          <p:cNvPr id="7" name="Text 4"/>
          <p:cNvSpPr txBox="1"/>
          <p:nvPr/>
        </p:nvSpPr>
        <p:spPr>
          <a:xfrm>
            <a:off x="5852160" y="2971800"/>
            <a:ext cx="2834640" cy="731520"/>
          </a:xfrm>
          <a:prstGeom prst="rect">
            <a:avLst/>
          </a:prstGeom>
          <a:noFill/>
          <a:ln/>
        </p:spPr>
        <p:txBody>
          <a:bodyPr wrap="square" lIns="0" tIns="0" rIns="0" bIns="0" rtlCol="0" anchor="b"/>
          <a:lstStyle/>
          <a:p>
            <a:pPr indent="0" marL="0">
              <a:buNone/>
            </a:pPr>
            <a:r>
              <a:rPr lang="en-US" sz="3400" b="1" dirty="0">
                <a:solidFill>
                  <a:srgbClr val="2F6DB5"/>
                </a:solidFill>
                <a:latin typeface="Cambria" pitchFamily="34" charset="0"/>
                <a:ea typeface="Cambria" pitchFamily="34" charset="-122"/>
                <a:cs typeface="Cambria" pitchFamily="34" charset="-120"/>
              </a:rPr>
              <a:t>37.7 → 32.2</a:t>
            </a:r>
            <a:endParaRPr lang="en-US" sz="3400" dirty="0"/>
          </a:p>
        </p:txBody>
      </p:sp>
      <p:sp>
        <p:nvSpPr>
          <p:cNvPr id="8" name="Text 5"/>
          <p:cNvSpPr txBox="1"/>
          <p:nvPr/>
        </p:nvSpPr>
        <p:spPr>
          <a:xfrm>
            <a:off x="5852160" y="3776472"/>
            <a:ext cx="283464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verbatim WER (%), fillers counted as words</a:t>
            </a:r>
            <a:endParaRPr lang="en-US" sz="1300" dirty="0"/>
          </a:p>
        </p:txBody>
      </p:sp>
      <p:sp>
        <p:nvSpPr>
          <p:cNvPr id="9" name="Text 6"/>
          <p:cNvSpPr txBox="1"/>
          <p:nvPr/>
        </p:nvSpPr>
        <p:spPr>
          <a:xfrm>
            <a:off x="5852160" y="4343400"/>
            <a:ext cx="2834640" cy="548640"/>
          </a:xfrm>
          <a:prstGeom prst="rect">
            <a:avLst/>
          </a:prstGeom>
          <a:noFill/>
          <a:ln/>
        </p:spPr>
        <p:txBody>
          <a:bodyPr wrap="square" lIns="0" tIns="0" rIns="0" bIns="0" rtlCol="0" anchor="t"/>
          <a:lstStyle/>
          <a:p>
            <a:pPr indent="0" marL="0">
              <a:buNone/>
            </a:pPr>
            <a:r>
              <a:rPr lang="en-US" sz="950" i="1" dirty="0">
                <a:solidFill>
                  <a:srgbClr val="5A6272"/>
                </a:solidFill>
                <a:latin typeface="Calibri" pitchFamily="34" charset="0"/>
                <a:ea typeface="Calibri" pitchFamily="34" charset="-122"/>
                <a:cs typeface="Calibri" pitchFamily="34" charset="-120"/>
              </a:rPr>
              <a:t>95% bootstrap intervals: filler recall 0–5% vs 53–75%; verbatim WER 34–42% vs 28–36%; WER 30–38% vs 28–36% (overlapping).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FULL PIPELINE</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Three 4-person AMI meetings, end to end</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828800"/>
                <a:gridCol w="1097280"/>
                <a:gridCol w="1737360"/>
                <a:gridCol w="1737360"/>
                <a:gridCol w="18288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Meeting</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DER</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cpWER stock</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cpWER adapted</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Fillers kept</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ES2004c</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9.4%</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58.7%</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61.9%</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1 → 14 of 14</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84048">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IS1009b</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25.4%</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56.0%</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53.8%</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1 → 30 of 39</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84048">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EN2002b</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23.5%</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55.0%</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56.3%</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50" dirty="0">
                          <a:solidFill>
                            <a:srgbClr val="3D4555"/>
                          </a:solidFill>
                          <a:latin typeface="Calibri" pitchFamily="34" charset="0"/>
                          <a:ea typeface="Calibri" pitchFamily="34" charset="-122"/>
                          <a:cs typeface="Calibri" pitchFamily="34" charset="-120"/>
                        </a:rPr>
                        <a:t>0 → 21 of 30</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8404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Mean / total</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2F8"/>
                    </a:solidFill>
                  </a:tcPr>
                </a:tc>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19.4%</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2F8"/>
                    </a:solidFill>
                  </a:tcPr>
                </a:tc>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56.6%</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2F8"/>
                    </a:solidFill>
                  </a:tcPr>
                </a:tc>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57.3%</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2F8"/>
                    </a:solidFill>
                  </a:tcPr>
                </a:tc>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2 → 65 of 83</a:t>
                      </a:r>
                      <a:endParaRPr lang="en-US" sz="125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2F8"/>
                    </a:solidFill>
                  </a:tcPr>
                </a:tc>
              </a:tr>
            </a:tbl>
          </a:graphicData>
        </a:graphic>
      </p:graphicFrame>
      <p:sp>
        <p:nvSpPr>
          <p:cNvPr id="5" name="Text 2"/>
          <p:cNvSpPr txBox="1"/>
          <p:nvPr/>
        </p:nvSpPr>
        <p:spPr>
          <a:xfrm>
            <a:off x="457200" y="3657600"/>
            <a:ext cx="8229600" cy="82296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Fillers: 2% → 78%. </a:t>
            </a:r>
            <a:pPr indent="0" marL="0">
              <a:buNone/>
            </a:pPr>
            <a:r>
              <a:rPr lang="en-US" sz="1400" dirty="0">
                <a:solidFill>
                  <a:srgbClr val="3D4555"/>
                </a:solidFill>
                <a:latin typeface="Calibri" pitchFamily="34" charset="0"/>
                <a:ea typeface="Calibri" pitchFamily="34" charset="-122"/>
                <a:cs typeface="Calibri" pitchFamily="34" charset="-120"/>
              </a:rPr>
              <a:t>Word accuracy moves −2 to +3 points, inside intervals tens of points wide: three 5-minute excerpts cannot separate the two recognisers.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WHERE ERRORS COME FROM</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Diarisation, not recognition, dominates</a:t>
            </a:r>
            <a:endParaRPr lang="en-US" sz="2400" dirty="0"/>
          </a:p>
        </p:txBody>
      </p:sp>
      <p:sp>
        <p:nvSpPr>
          <p:cNvPr id="4" name="Text 2"/>
          <p:cNvSpPr txBox="1"/>
          <p:nvPr/>
        </p:nvSpPr>
        <p:spPr>
          <a:xfrm>
            <a:off x="457200" y="1554480"/>
            <a:ext cx="2499360" cy="731520"/>
          </a:xfrm>
          <a:prstGeom prst="rect">
            <a:avLst/>
          </a:prstGeom>
          <a:noFill/>
          <a:ln/>
        </p:spPr>
        <p:txBody>
          <a:bodyPr wrap="square" lIns="0" tIns="0" rIns="0" bIns="0" rtlCol="0" anchor="b"/>
          <a:lstStyle/>
          <a:p>
            <a:pPr indent="0" marL="0">
              <a:buNone/>
            </a:pPr>
            <a:r>
              <a:rPr lang="en-US" sz="4400" b="1" dirty="0">
                <a:solidFill>
                  <a:srgbClr val="C46A1C"/>
                </a:solidFill>
                <a:latin typeface="Cambria" pitchFamily="34" charset="0"/>
                <a:ea typeface="Cambria" pitchFamily="34" charset="-122"/>
                <a:cs typeface="Cambria" pitchFamily="34" charset="-120"/>
              </a:rPr>
              <a:t>21%</a:t>
            </a:r>
            <a:endParaRPr lang="en-US" sz="4400" dirty="0"/>
          </a:p>
        </p:txBody>
      </p:sp>
      <p:sp>
        <p:nvSpPr>
          <p:cNvPr id="5" name="Text 3"/>
          <p:cNvSpPr txBox="1"/>
          <p:nvPr/>
        </p:nvSpPr>
        <p:spPr>
          <a:xfrm>
            <a:off x="457200" y="2359152"/>
            <a:ext cx="249936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speaker confusion in IS1009b: two voices labelled consistently only about half the time</a:t>
            </a:r>
            <a:endParaRPr lang="en-US" sz="1300" dirty="0"/>
          </a:p>
        </p:txBody>
      </p:sp>
      <p:sp>
        <p:nvSpPr>
          <p:cNvPr id="6" name="Text 4"/>
          <p:cNvSpPr txBox="1"/>
          <p:nvPr/>
        </p:nvSpPr>
        <p:spPr>
          <a:xfrm>
            <a:off x="3322320" y="1554480"/>
            <a:ext cx="2499360" cy="731520"/>
          </a:xfrm>
          <a:prstGeom prst="rect">
            <a:avLst/>
          </a:prstGeom>
          <a:noFill/>
          <a:ln/>
        </p:spPr>
        <p:txBody>
          <a:bodyPr wrap="square" lIns="0" tIns="0" rIns="0" bIns="0" rtlCol="0" anchor="b"/>
          <a:lstStyle/>
          <a:p>
            <a:pPr indent="0" marL="0">
              <a:buNone/>
            </a:pPr>
            <a:r>
              <a:rPr lang="en-US" sz="4400" b="1" dirty="0">
                <a:solidFill>
                  <a:srgbClr val="2F6DB5"/>
                </a:solidFill>
                <a:latin typeface="Cambria" pitchFamily="34" charset="0"/>
                <a:ea typeface="Cambria" pitchFamily="34" charset="-122"/>
                <a:cs typeface="Cambria" pitchFamily="34" charset="-120"/>
              </a:rPr>
              <a:t>15%</a:t>
            </a:r>
            <a:endParaRPr lang="en-US" sz="4400" dirty="0"/>
          </a:p>
        </p:txBody>
      </p:sp>
      <p:sp>
        <p:nvSpPr>
          <p:cNvPr id="7" name="Text 5"/>
          <p:cNvSpPr txBox="1"/>
          <p:nvPr/>
        </p:nvSpPr>
        <p:spPr>
          <a:xfrm>
            <a:off x="3322320" y="2359152"/>
            <a:ext cx="249936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of speech missed in EN2002b, where 41% of speech overlaps and 24 s has 3+ talkers</a:t>
            </a:r>
            <a:endParaRPr lang="en-US" sz="1300" dirty="0"/>
          </a:p>
        </p:txBody>
      </p:sp>
      <p:sp>
        <p:nvSpPr>
          <p:cNvPr id="8" name="Text 6"/>
          <p:cNvSpPr txBox="1"/>
          <p:nvPr/>
        </p:nvSpPr>
        <p:spPr>
          <a:xfrm>
            <a:off x="6187440" y="1554480"/>
            <a:ext cx="2499360" cy="731520"/>
          </a:xfrm>
          <a:prstGeom prst="rect">
            <a:avLst/>
          </a:prstGeom>
          <a:noFill/>
          <a:ln/>
        </p:spPr>
        <p:txBody>
          <a:bodyPr wrap="square" lIns="0" tIns="0" rIns="0" bIns="0" rtlCol="0" anchor="b"/>
          <a:lstStyle/>
          <a:p>
            <a:pPr indent="0" marL="0">
              <a:buNone/>
            </a:pPr>
            <a:r>
              <a:rPr lang="en-US" sz="4400" b="1" dirty="0">
                <a:solidFill>
                  <a:srgbClr val="C46A1C"/>
                </a:solidFill>
                <a:latin typeface="Cambria" pitchFamily="34" charset="0"/>
                <a:ea typeface="Cambria" pitchFamily="34" charset="-122"/>
                <a:cs typeface="Cambria" pitchFamily="34" charset="-120"/>
              </a:rPr>
              <a:t>78 s</a:t>
            </a:r>
            <a:endParaRPr lang="en-US" sz="4400" dirty="0"/>
          </a:p>
        </p:txBody>
      </p:sp>
      <p:sp>
        <p:nvSpPr>
          <p:cNvPr id="9" name="Text 7"/>
          <p:cNvSpPr txBox="1"/>
          <p:nvPr/>
        </p:nvSpPr>
        <p:spPr>
          <a:xfrm>
            <a:off x="6187440" y="2359152"/>
            <a:ext cx="2499360" cy="822960"/>
          </a:xfrm>
          <a:prstGeom prst="rect">
            <a:avLst/>
          </a:prstGeom>
          <a:noFill/>
          <a:ln/>
        </p:spPr>
        <p:txBody>
          <a:bodyPr wrap="square" lIns="0" tIns="0" rIns="0" bIns="0" rtlCol="0" anchor="t"/>
          <a:lstStyle/>
          <a:p>
            <a:pPr indent="0" marL="0">
              <a:buNone/>
            </a:pPr>
            <a:r>
              <a:rPr lang="en-US" sz="1300" dirty="0">
                <a:solidFill>
                  <a:srgbClr val="3D4555"/>
                </a:solidFill>
                <a:latin typeface="Calibri" pitchFamily="34" charset="0"/>
                <a:ea typeface="Calibri" pitchFamily="34" charset="-122"/>
                <a:cs typeface="Calibri" pitchFamily="34" charset="-120"/>
              </a:rPr>
              <a:t>of ES2004c speech has no reference text, so correct words there score as insertions</a:t>
            </a:r>
            <a:endParaRPr lang="en-US" sz="1300" dirty="0"/>
          </a:p>
        </p:txBody>
      </p:sp>
      <p:sp>
        <p:nvSpPr>
          <p:cNvPr id="10" name="Text 8"/>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400" dirty="0">
                <a:solidFill>
                  <a:srgbClr val="3D4555"/>
                </a:solidFill>
                <a:latin typeface="Calibri" pitchFamily="34" charset="0"/>
                <a:ea typeface="Calibri" pitchFamily="34" charset="-122"/>
                <a:cs typeface="Calibri" pitchFamily="34" charset="-120"/>
              </a:rPr>
              <a:t>Every diarisation error propagates to cpWER, and the separator recovers at most two simultaneous voices by design.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C46A1C"/>
                </a:solidFill>
                <a:latin typeface="Calibri" pitchFamily="34" charset="0"/>
                <a:ea typeface="Calibri" pitchFamily="34" charset="-122"/>
                <a:cs typeface="Calibri" pitchFamily="34" charset="-120"/>
              </a:rPr>
              <a:t>LIMITATIONS</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What we can and cannot claim</a:t>
            </a:r>
            <a:endParaRPr lang="en-US" sz="2400" dirty="0"/>
          </a:p>
        </p:txBody>
      </p:sp>
      <p:sp>
        <p:nvSpPr>
          <p:cNvPr id="4" name="Shape 2"/>
          <p:cNvSpPr/>
          <p:nvPr/>
        </p:nvSpPr>
        <p:spPr>
          <a:xfrm>
            <a:off x="457200" y="1508760"/>
            <a:ext cx="3977640" cy="1325880"/>
          </a:xfrm>
          <a:prstGeom prst="roundRect">
            <a:avLst>
              <a:gd name="adj" fmla="val 5517"/>
            </a:avLst>
          </a:prstGeom>
          <a:solidFill>
            <a:srgbClr val="EEF2F8"/>
          </a:solidFill>
          <a:ln w="12700">
            <a:solidFill>
              <a:srgbClr val="EEF2F8"/>
            </a:solidFill>
            <a:prstDash val="solid"/>
          </a:ln>
        </p:spPr>
      </p:sp>
      <p:sp>
        <p:nvSpPr>
          <p:cNvPr id="5" name="Text 3"/>
          <p:cNvSpPr txBox="1"/>
          <p:nvPr/>
        </p:nvSpPr>
        <p:spPr>
          <a:xfrm>
            <a:off x="640080" y="1673352"/>
            <a:ext cx="361188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Small evaluation</a:t>
            </a:r>
            <a:endParaRPr lang="en-US" sz="1500" dirty="0"/>
          </a:p>
        </p:txBody>
      </p:sp>
      <p:sp>
        <p:nvSpPr>
          <p:cNvPr id="6" name="Text 4"/>
          <p:cNvSpPr txBox="1"/>
          <p:nvPr/>
        </p:nvSpPr>
        <p:spPr>
          <a:xfrm>
            <a:off x="640080" y="2057400"/>
            <a:ext cx="3611880" cy="64008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300 utterances; three 5-minute meetings; separation measured on single synthetic mixtures.</a:t>
            </a:r>
            <a:endParaRPr lang="en-US" sz="1250" dirty="0"/>
          </a:p>
        </p:txBody>
      </p:sp>
      <p:sp>
        <p:nvSpPr>
          <p:cNvPr id="7" name="Shape 5"/>
          <p:cNvSpPr/>
          <p:nvPr/>
        </p:nvSpPr>
        <p:spPr>
          <a:xfrm>
            <a:off x="4709160" y="1508760"/>
            <a:ext cx="3977640" cy="1325880"/>
          </a:xfrm>
          <a:prstGeom prst="roundRect">
            <a:avLst>
              <a:gd name="adj" fmla="val 5517"/>
            </a:avLst>
          </a:prstGeom>
          <a:solidFill>
            <a:srgbClr val="EEF2F8"/>
          </a:solidFill>
          <a:ln w="12700">
            <a:solidFill>
              <a:srgbClr val="EEF2F8"/>
            </a:solidFill>
            <a:prstDash val="solid"/>
          </a:ln>
        </p:spPr>
      </p:sp>
      <p:sp>
        <p:nvSpPr>
          <p:cNvPr id="8" name="Text 6"/>
          <p:cNvSpPr txBox="1"/>
          <p:nvPr/>
        </p:nvSpPr>
        <p:spPr>
          <a:xfrm>
            <a:off x="4892040" y="1673352"/>
            <a:ext cx="361188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Two-source separation</a:t>
            </a:r>
            <a:endParaRPr lang="en-US" sz="1500" dirty="0"/>
          </a:p>
        </p:txBody>
      </p:sp>
      <p:sp>
        <p:nvSpPr>
          <p:cNvPr id="9" name="Text 7"/>
          <p:cNvSpPr txBox="1"/>
          <p:nvPr/>
        </p:nvSpPr>
        <p:spPr>
          <a:xfrm>
            <a:off x="4892040" y="2057400"/>
            <a:ext cx="3611880" cy="64008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Three or more simultaneous speakers cannot all be recovered.</a:t>
            </a:r>
            <a:endParaRPr lang="en-US" sz="1250" dirty="0"/>
          </a:p>
        </p:txBody>
      </p:sp>
      <p:sp>
        <p:nvSpPr>
          <p:cNvPr id="10" name="Shape 8"/>
          <p:cNvSpPr/>
          <p:nvPr/>
        </p:nvSpPr>
        <p:spPr>
          <a:xfrm>
            <a:off x="457200" y="3063240"/>
            <a:ext cx="3977640" cy="1325880"/>
          </a:xfrm>
          <a:prstGeom prst="roundRect">
            <a:avLst>
              <a:gd name="adj" fmla="val 5517"/>
            </a:avLst>
          </a:prstGeom>
          <a:solidFill>
            <a:srgbClr val="EEF2F8"/>
          </a:solidFill>
          <a:ln w="12700">
            <a:solidFill>
              <a:srgbClr val="EEF2F8"/>
            </a:solidFill>
            <a:prstDash val="solid"/>
          </a:ln>
        </p:spPr>
      </p:sp>
      <p:sp>
        <p:nvSpPr>
          <p:cNvPr id="11" name="Text 9"/>
          <p:cNvSpPr txBox="1"/>
          <p:nvPr/>
        </p:nvSpPr>
        <p:spPr>
          <a:xfrm>
            <a:off x="640080" y="3227832"/>
            <a:ext cx="361188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Readability</a:t>
            </a:r>
            <a:endParaRPr lang="en-US" sz="1500" dirty="0"/>
          </a:p>
        </p:txBody>
      </p:sp>
      <p:sp>
        <p:nvSpPr>
          <p:cNvPr id="12" name="Text 10"/>
          <p:cNvSpPr txBox="1"/>
          <p:nvPr/>
        </p:nvSpPr>
        <p:spPr>
          <a:xfrm>
            <a:off x="640080" y="3611880"/>
            <a:ext cx="3611880" cy="64008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The adapted model writes lower-case, unpunctuated text; punctuation restoration is not built.</a:t>
            </a:r>
            <a:endParaRPr lang="en-US" sz="1250" dirty="0"/>
          </a:p>
        </p:txBody>
      </p:sp>
      <p:sp>
        <p:nvSpPr>
          <p:cNvPr id="13" name="Shape 11"/>
          <p:cNvSpPr/>
          <p:nvPr/>
        </p:nvSpPr>
        <p:spPr>
          <a:xfrm>
            <a:off x="4709160" y="3063240"/>
            <a:ext cx="3977640" cy="1325880"/>
          </a:xfrm>
          <a:prstGeom prst="roundRect">
            <a:avLst>
              <a:gd name="adj" fmla="val 5517"/>
            </a:avLst>
          </a:prstGeom>
          <a:solidFill>
            <a:srgbClr val="EEF2F8"/>
          </a:solidFill>
          <a:ln w="12700">
            <a:solidFill>
              <a:srgbClr val="EEF2F8"/>
            </a:solidFill>
            <a:prstDash val="solid"/>
          </a:ln>
        </p:spPr>
      </p:sp>
      <p:sp>
        <p:nvSpPr>
          <p:cNvPr id="14" name="Text 12"/>
          <p:cNvSpPr txBox="1"/>
          <p:nvPr/>
        </p:nvSpPr>
        <p:spPr>
          <a:xfrm>
            <a:off x="4892040" y="3227832"/>
            <a:ext cx="361188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Live mode</a:t>
            </a:r>
            <a:endParaRPr lang="en-US" sz="1500" dirty="0"/>
          </a:p>
        </p:txBody>
      </p:sp>
      <p:sp>
        <p:nvSpPr>
          <p:cNvPr id="15" name="Text 13"/>
          <p:cNvSpPr txBox="1"/>
          <p:nvPr/>
        </p:nvSpPr>
        <p:spPr>
          <a:xfrm>
            <a:off x="4892040" y="3611880"/>
            <a:ext cx="3611880" cy="640080"/>
          </a:xfrm>
          <a:prstGeom prst="rect">
            <a:avLst/>
          </a:prstGeom>
          <a:noFill/>
          <a:ln/>
        </p:spPr>
        <p:txBody>
          <a:bodyPr wrap="square" lIns="0" tIns="0" rIns="0" bIns="0" rtlCol="0" anchor="t"/>
          <a:lstStyle/>
          <a:p>
            <a:pPr indent="0" marL="0">
              <a:buNone/>
            </a:pPr>
            <a:r>
              <a:rPr lang="en-US" sz="1250" dirty="0">
                <a:solidFill>
                  <a:srgbClr val="3D4555"/>
                </a:solidFill>
                <a:latin typeface="Calibri" pitchFamily="34" charset="0"/>
                <a:ea typeface="Calibri" pitchFamily="34" charset="-122"/>
                <a:cs typeface="Calibri" pitchFamily="34" charset="-120"/>
              </a:rPr>
              <a:t>About 7–8 s lag; tested with replayed audio, not yet a live microphone.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74320"/>
          </a:xfrm>
          <a:prstGeom prst="rect">
            <a:avLst/>
          </a:prstGeom>
          <a:noFill/>
          <a:ln/>
        </p:spPr>
        <p:txBody>
          <a:bodyPr wrap="square" lIns="0" tIns="0" rIns="0" bIns="0" rtlCol="0" anchor="ctr"/>
          <a:lstStyle/>
          <a:p>
            <a:pPr indent="0" marL="0">
              <a:buNone/>
            </a:pPr>
            <a:r>
              <a:rPr lang="en-US" sz="1100" b="1" spc="200" kern="0" dirty="0">
                <a:solidFill>
                  <a:srgbClr val="F2B27A"/>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457200" y="621792"/>
            <a:ext cx="8229600" cy="5029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Match the training data to the pipeline</a:t>
            </a:r>
            <a:endParaRPr lang="en-US" sz="2400" dirty="0"/>
          </a:p>
        </p:txBody>
      </p:sp>
      <p:sp>
        <p:nvSpPr>
          <p:cNvPr id="4" name="Text 2"/>
          <p:cNvSpPr txBox="1"/>
          <p:nvPr/>
        </p:nvSpPr>
        <p:spPr>
          <a:xfrm>
            <a:off x="457200" y="1508760"/>
            <a:ext cx="8229600" cy="1371600"/>
          </a:xfrm>
          <a:prstGeom prst="rect">
            <a:avLst/>
          </a:prstGeom>
          <a:noFill/>
          <a:ln/>
        </p:spPr>
        <p:txBody>
          <a:bodyPr wrap="square" lIns="0" tIns="0" rIns="0" bIns="0" rtlCol="0" anchor="t"/>
          <a:lstStyle/>
          <a:p>
            <a:pPr indent="0" marL="0">
              <a:buNone/>
            </a:pPr>
            <a:r>
              <a:rPr lang="en-US" sz="2000" dirty="0">
                <a:solidFill>
                  <a:srgbClr val="FFFFFF"/>
                </a:solidFill>
                <a:latin typeface="Cambria" pitchFamily="34" charset="0"/>
                <a:ea typeface="Cambria" pitchFamily="34" charset="-122"/>
                <a:cs typeface="Cambria" pitchFamily="34" charset="-120"/>
              </a:rPr>
              <a:t>An open, laptop-scale pipeline that separates overlapping speech, labels speakers, streams live, and keeps two thirds of the fillers that stock Whisper deletes — with no loss in word accuracy.</a:t>
            </a:r>
            <a:endParaRPr lang="en-US" sz="2000" dirty="0"/>
          </a:p>
        </p:txBody>
      </p:sp>
      <p:sp>
        <p:nvSpPr>
          <p:cNvPr id="5" name="Text 3"/>
          <p:cNvSpPr txBox="1"/>
          <p:nvPr/>
        </p:nvSpPr>
        <p:spPr>
          <a:xfrm>
            <a:off x="457200" y="3246120"/>
            <a:ext cx="8229600" cy="274320"/>
          </a:xfrm>
          <a:prstGeom prst="rect">
            <a:avLst/>
          </a:prstGeom>
          <a:noFill/>
          <a:ln/>
        </p:spPr>
        <p:txBody>
          <a:bodyPr wrap="square" lIns="0" tIns="0" rIns="0" bIns="0" rtlCol="0" anchor="ctr"/>
          <a:lstStyle/>
          <a:p>
            <a:pPr indent="0" marL="0">
              <a:buNone/>
            </a:pPr>
            <a:r>
              <a:rPr lang="en-US" sz="1100" b="1" spc="200" kern="0" dirty="0">
                <a:solidFill>
                  <a:srgbClr val="F2B27A"/>
                </a:solidFill>
                <a:latin typeface="Calibri" pitchFamily="34" charset="0"/>
                <a:ea typeface="Calibri" pitchFamily="34" charset="-122"/>
                <a:cs typeface="Calibri" pitchFamily="34" charset="-120"/>
              </a:rPr>
              <a:t>NEXT</a:t>
            </a:r>
            <a:endParaRPr lang="en-US" sz="1100" dirty="0"/>
          </a:p>
        </p:txBody>
      </p:sp>
      <p:sp>
        <p:nvSpPr>
          <p:cNvPr id="6" name="Text 4"/>
          <p:cNvSpPr txBox="1"/>
          <p:nvPr/>
        </p:nvSpPr>
        <p:spPr>
          <a:xfrm>
            <a:off x="457200" y="3566160"/>
            <a:ext cx="8229600" cy="731520"/>
          </a:xfrm>
          <a:prstGeom prst="rect">
            <a:avLst/>
          </a:prstGeom>
          <a:noFill/>
          <a:ln/>
        </p:spPr>
        <p:txBody>
          <a:bodyPr wrap="square" lIns="0" tIns="0" rIns="0" bIns="0" rtlCol="0" anchor="t"/>
          <a:lstStyle/>
          <a:p>
            <a:pPr indent="0" marL="0">
              <a:buNone/>
            </a:pPr>
            <a:r>
              <a:rPr lang="en-US" sz="1500" dirty="0">
                <a:solidFill>
                  <a:srgbClr val="C9D3E6"/>
                </a:solidFill>
                <a:latin typeface="Calibri" pitchFamily="34" charset="0"/>
                <a:ea typeface="Calibri" pitchFamily="34" charset="-122"/>
                <a:cs typeface="Calibri" pitchFamily="34" charset="-120"/>
              </a:rPr>
              <a:t>Stronger diarisation · more evaluation meetings (NOTSOFAR-1, CHiME-6) · diarisation-conditioned ASR beyond two speakers · punctuation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1463040"/>
            <a:ext cx="8229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3" name="Text 1"/>
          <p:cNvSpPr txBox="1"/>
          <p:nvPr/>
        </p:nvSpPr>
        <p:spPr>
          <a:xfrm>
            <a:off x="457200" y="2651760"/>
            <a:ext cx="7772400" cy="914400"/>
          </a:xfrm>
          <a:prstGeom prst="rect">
            <a:avLst/>
          </a:prstGeom>
          <a:noFill/>
          <a:ln/>
        </p:spPr>
        <p:txBody>
          <a:bodyPr wrap="square" lIns="0" tIns="0" rIns="0" bIns="0" rtlCol="0" anchor="t"/>
          <a:lstStyle/>
          <a:p>
            <a:pPr indent="0" marL="0">
              <a:buNone/>
            </a:pPr>
            <a:r>
              <a:rPr lang="en-US" sz="1600" dirty="0">
                <a:solidFill>
                  <a:srgbClr val="C9D3E6"/>
                </a:solidFill>
                <a:latin typeface="Calibri" pitchFamily="34" charset="0"/>
                <a:ea typeface="Calibri" pitchFamily="34" charset="-122"/>
                <a:cs typeface="Calibri" pitchFamily="34" charset="-120"/>
              </a:rPr>
              <a:t>Live demo: </a:t>
            </a:r>
            <a:pPr indent="0" marL="0">
              <a:buNone/>
            </a:pPr>
            <a:r>
              <a:rPr lang="en-US" sz="1600" b="1" dirty="0">
                <a:solidFill>
                  <a:srgbClr val="C9D3E6"/>
                </a:solidFill>
                <a:latin typeface="Courier New" pitchFamily="34" charset="0"/>
                <a:ea typeface="Courier New" pitchFamily="34" charset="-122"/>
                <a:cs typeface="Courier New" pitchFamily="34" charset="-120"/>
              </a:rPr>
              <a:t>./run.sh demo</a:t>
            </a:r>
            <a:pPr indent="0" marL="0">
              <a:buNone/>
            </a:pPr>
            <a:r>
              <a:rPr lang="en-US" sz="1600" dirty="0">
                <a:solidFill>
                  <a:srgbClr val="C9D3E6"/>
                </a:solidFill>
                <a:latin typeface="Calibri" pitchFamily="34" charset="0"/>
                <a:ea typeface="Calibri" pitchFamily="34" charset="-122"/>
                <a:cs typeface="Calibri" pitchFamily="34" charset="-120"/>
              </a:rPr>
              <a:t> — an AMI meeting played in real time, stock vs adapted Whisper side by side, with the ground-truth transcript.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Verbatim Transcription of Overlapping Meeting Speech</dc:title>
  <dc:subject>PptxGenJS Presentation</dc:subject>
  <dc:creator>Shreya Mary Kurien, Krishiv Saluja, Sampath Bageyawadi, Thummala Koushik, M Sanjay</dc:creator>
  <cp:lastModifiedBy>Shreya Mary Kurien, Krishiv Saluja, Sampath Bageyawadi, Thummala Koushik, M Sanjay</cp:lastModifiedBy>
  <cp:revision>1</cp:revision>
  <dcterms:created xsi:type="dcterms:W3CDTF">2026-10-01T06:53:52Z</dcterms:created>
  <dcterms:modified xsi:type="dcterms:W3CDTF">2026-10-01T06:53:52Z</dcterms:modified>
</cp:coreProperties>
</file>